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70" r:id="rId10"/>
    <p:sldId id="264" r:id="rId11"/>
    <p:sldId id="263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5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501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3474720" cy="347472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640080"/>
            <a:ext cx="2377440" cy="2377440"/>
          </a:xfrm>
          <a:prstGeom prst="ellipse">
            <a:avLst/>
          </a:prstGeom>
          <a:solidFill>
            <a:srgbClr val="FE3082"/>
          </a:solidFill>
          <a:ln w="12700">
            <a:solidFill>
              <a:srgbClr val="FE30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83480"/>
            <a:ext cx="10058400" cy="160020"/>
          </a:xfrm>
          <a:prstGeom prst="rect">
            <a:avLst/>
          </a:prstGeom>
          <a:solidFill>
            <a:srgbClr val="FE30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4864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508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</a:rPr>
              <a:t>Hartford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1148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E3082"/>
                </a:solidFill>
              </a:rPr>
              <a:t>Life Insurance Management System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2697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C8DC"/>
                </a:solidFill>
              </a:rPr>
              <a:t>A Centralized Digital Platform for the Complete Insurance Lifecycle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</p:sp>
      <p:sp>
        <p:nvSpPr>
          <p:cNvPr id="11" name="Text 8"/>
          <p:cNvSpPr/>
          <p:nvPr/>
        </p:nvSpPr>
        <p:spPr>
          <a:xfrm>
            <a:off x="411480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ASP.NET Core 8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927321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</p:sp>
      <p:sp>
        <p:nvSpPr>
          <p:cNvPr id="13" name="Text 10"/>
          <p:cNvSpPr/>
          <p:nvPr/>
        </p:nvSpPr>
        <p:spPr>
          <a:xfrm>
            <a:off x="1918949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Angular 20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3443162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</p:sp>
      <p:sp>
        <p:nvSpPr>
          <p:cNvPr id="15" name="Text 12"/>
          <p:cNvSpPr/>
          <p:nvPr/>
        </p:nvSpPr>
        <p:spPr>
          <a:xfrm>
            <a:off x="3434790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SQL Server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995064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4"/>
          <p:cNvSpPr/>
          <p:nvPr/>
        </p:nvSpPr>
        <p:spPr>
          <a:xfrm>
            <a:off x="5036281" y="322744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JWT Auth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629400" y="3227188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22177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Clean Architecture</a:t>
            </a:r>
            <a:endParaRPr lang="en-US" sz="7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1E864-F705-2C0A-170C-2BFE07AEF1ED}"/>
              </a:ext>
            </a:extLst>
          </p:cNvPr>
          <p:cNvSpPr txBox="1"/>
          <p:nvPr/>
        </p:nvSpPr>
        <p:spPr>
          <a:xfrm>
            <a:off x="339681" y="3767508"/>
            <a:ext cx="5032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</a:rPr>
              <a:t>-  </a:t>
            </a:r>
            <a:r>
              <a:rPr lang="en-US" sz="1800" b="1" dirty="0">
                <a:solidFill>
                  <a:srgbClr val="FFFFFF"/>
                </a:solidFill>
              </a:rPr>
              <a:t>By Sai Srihitha </a:t>
            </a:r>
            <a:r>
              <a:rPr lang="en-US" sz="1800" b="1" dirty="0" err="1">
                <a:solidFill>
                  <a:srgbClr val="FFFFFF"/>
                </a:solidFill>
              </a:rPr>
              <a:t>Kamtala</a:t>
            </a:r>
            <a:endParaRPr lang="en-US" sz="18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C5023C-AA5A-74A1-E037-CB4BA10BEC8F}"/>
              </a:ext>
            </a:extLst>
          </p:cNvPr>
          <p:cNvSpPr txBox="1"/>
          <p:nvPr/>
        </p:nvSpPr>
        <p:spPr>
          <a:xfrm>
            <a:off x="519985" y="4133088"/>
            <a:ext cx="50324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FFFFFF"/>
                </a:solidFill>
              </a:rPr>
              <a:t>Intern, Hartford (Dec 25 – Mar 26)</a:t>
            </a:r>
            <a:endParaRPr lang="en-IN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Problem Statement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Why a new insurance management system is needed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502920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24128"/>
            <a:ext cx="64008" cy="352044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097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5013F"/>
                </a:solidFill>
              </a:rPr>
              <a:t>The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8132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/>
              <a:t>Life insurance provides financial protection to individuals and families, offering monetary support during unexpected events and serving as a long-term financial security tool.</a:t>
            </a: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/>
              <a:t>However, many existing platforms focus only on basic transactional services and fail to deliver: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852928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82549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Sufficient transparency in policy lifecycle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17296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Structured and trackable claim management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547872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520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Operational efficiency across roles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679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Automated premium and lapse monitoring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024128"/>
            <a:ext cx="3246120" cy="35204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0" y="1143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1508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C8DC"/>
                </a:solidFill>
              </a:rPr>
              <a:t>A centralized digital platform managing the entire insurance lifecycle — from plan creation to claim settlement.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0" y="2331720"/>
            <a:ext cx="1417320" cy="804672"/>
          </a:xfrm>
          <a:prstGeom prst="rect">
            <a:avLst/>
          </a:prstGeom>
          <a:solidFill>
            <a:srgbClr val="A8024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23774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8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669280" y="27523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Integrated Modules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223760" y="2331720"/>
            <a:ext cx="1417320" cy="804672"/>
          </a:xfrm>
          <a:prstGeom prst="rect">
            <a:avLst/>
          </a:prstGeom>
          <a:solidFill>
            <a:srgbClr val="A8024F"/>
          </a:solidFill>
          <a:ln/>
        </p:spPr>
      </p:sp>
      <p:sp>
        <p:nvSpPr>
          <p:cNvPr id="26" name="Text 24"/>
          <p:cNvSpPr/>
          <p:nvPr/>
        </p:nvSpPr>
        <p:spPr>
          <a:xfrm>
            <a:off x="7223760" y="23774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23760" y="27523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Role-Based Dashboards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53070" y="3337560"/>
            <a:ext cx="2228045" cy="804672"/>
          </a:xfrm>
          <a:prstGeom prst="rect">
            <a:avLst/>
          </a:prstGeom>
          <a:solidFill>
            <a:srgbClr val="A8024F"/>
          </a:solidFill>
          <a:ln/>
        </p:spPr>
      </p:sp>
      <p:sp>
        <p:nvSpPr>
          <p:cNvPr id="32" name="Text 30"/>
          <p:cNvSpPr/>
          <p:nvPr/>
        </p:nvSpPr>
        <p:spPr>
          <a:xfrm>
            <a:off x="6458432" y="33832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JWT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92240" y="36804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Secured Auth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System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Clean Architecture with role-based access control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97280" y="1005840"/>
            <a:ext cx="6949440" cy="594360"/>
          </a:xfrm>
          <a:prstGeom prst="rect">
            <a:avLst/>
          </a:prstGeom>
          <a:solidFill>
            <a:srgbClr val="FE308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80160" y="1042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Presentation Layer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307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Angular 17 SPA  •  Tailwind CSS  •  Role-based Dashboards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434840" y="16002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1691640"/>
            <a:ext cx="6949440" cy="59436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80160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API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19933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ASP.NET Core 8  •  JWT Auth  •  Global Exception Handling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434840" y="22860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7280" y="2377440"/>
            <a:ext cx="6949440" cy="59436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280160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Application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26791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Services  •  DTOs  •  Business Logic  •  AutoMapper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34840" y="29718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7280" y="3063240"/>
            <a:ext cx="6949440" cy="594360"/>
          </a:xfrm>
          <a:prstGeom prst="rect">
            <a:avLst/>
          </a:prstGeom>
          <a:solidFill>
            <a:srgbClr val="4B0025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280160" y="30998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Infrastructure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33649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EF Core  •  Repositories  •  MailKit  •  QuestPDF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434840" y="36576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3749040"/>
            <a:ext cx="6949440" cy="594360"/>
          </a:xfrm>
          <a:prstGeom prst="rect">
            <a:avLst/>
          </a:prstGeom>
          <a:solidFill>
            <a:srgbClr val="1A0010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280160" y="37856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Database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0507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SQL Server  •  13 Core Entities  •  Migrations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960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Roles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83880" y="1261872"/>
            <a:ext cx="868680" cy="45720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183880" y="12618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Admin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83880" y="1920240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83880" y="1920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Customer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83880" y="2578608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183880" y="2578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Agent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183880" y="3236976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183880" y="32369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Claims Officer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Module Breakdown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8 integrated modules covering the complete insurance lifecycle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78992"/>
            <a:ext cx="1993392" cy="6400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9" name="Shape 7"/>
          <p:cNvSpPr/>
          <p:nvPr/>
        </p:nvSpPr>
        <p:spPr>
          <a:xfrm>
            <a:off x="384048" y="1243584"/>
            <a:ext cx="475488" cy="475488"/>
          </a:xfrm>
          <a:prstGeom prst="ellipse">
            <a:avLst/>
          </a:prstGeom>
          <a:solidFill>
            <a:srgbClr val="FCE4EE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6" y="1338682"/>
            <a:ext cx="285293" cy="28529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Authentication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32688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JWT · CAPTCHA · RBAC · Reset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450592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450592" y="1078992"/>
            <a:ext cx="199339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2"/>
          <p:cNvSpPr/>
          <p:nvPr/>
        </p:nvSpPr>
        <p:spPr>
          <a:xfrm>
            <a:off x="2560320" y="1243584"/>
            <a:ext cx="475488" cy="475488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418" y="1338682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Plan Management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108960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Admin creates &amp; configures plans, customers view and buy them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626864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26864" y="1078992"/>
            <a:ext cx="1993392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Shape 17"/>
          <p:cNvSpPr/>
          <p:nvPr/>
        </p:nvSpPr>
        <p:spPr>
          <a:xfrm>
            <a:off x="4736592" y="1243584"/>
            <a:ext cx="475488" cy="475488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1690" y="1338682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85232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Policy Management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5285232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4-step purchase wizard · Draft save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6803136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803136" y="1078992"/>
            <a:ext cx="1993392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Shape 22"/>
          <p:cNvSpPr/>
          <p:nvPr/>
        </p:nvSpPr>
        <p:spPr>
          <a:xfrm>
            <a:off x="6912864" y="1243584"/>
            <a:ext cx="475488" cy="475488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7962" y="1338682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461504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Payment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7461504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Premium tracking · QuestPDF invoice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274320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274320" y="2798064"/>
            <a:ext cx="1993392" cy="64008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33" name="Shape 27"/>
          <p:cNvSpPr/>
          <p:nvPr/>
        </p:nvSpPr>
        <p:spPr>
          <a:xfrm>
            <a:off x="384048" y="2962656"/>
            <a:ext cx="475488" cy="475488"/>
          </a:xfrm>
          <a:prstGeom prst="ellipse">
            <a:avLst/>
          </a:prstGeom>
          <a:solidFill>
            <a:srgbClr val="FFF0F5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46" y="3057754"/>
            <a:ext cx="285293" cy="28529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32688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Claims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32688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Death &amp; maturity · Officer review</a:t>
            </a:r>
            <a:endParaRPr lang="en-US" sz="750" dirty="0"/>
          </a:p>
        </p:txBody>
      </p:sp>
      <p:sp>
        <p:nvSpPr>
          <p:cNvPr id="37" name="Shape 30"/>
          <p:cNvSpPr/>
          <p:nvPr/>
        </p:nvSpPr>
        <p:spPr>
          <a:xfrm>
            <a:off x="2450592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2450592" y="2798064"/>
            <a:ext cx="1993392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Shape 32"/>
          <p:cNvSpPr/>
          <p:nvPr/>
        </p:nvSpPr>
        <p:spPr>
          <a:xfrm>
            <a:off x="2560320" y="2962656"/>
            <a:ext cx="475488" cy="475488"/>
          </a:xfrm>
          <a:prstGeom prst="ellipse">
            <a:avLst/>
          </a:prstGeom>
          <a:solidFill>
            <a:srgbClr val="FFFBEB"/>
          </a:solidFill>
          <a:ln/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5418" y="3057754"/>
            <a:ext cx="285293" cy="285293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3108960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Notifications</a:t>
            </a:r>
            <a:endParaRPr lang="en-US" sz="950" dirty="0"/>
          </a:p>
        </p:txBody>
      </p:sp>
      <p:sp>
        <p:nvSpPr>
          <p:cNvPr id="42" name="Text 34"/>
          <p:cNvSpPr/>
          <p:nvPr/>
        </p:nvSpPr>
        <p:spPr>
          <a:xfrm>
            <a:off x="3108960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In-app alerts and mail service</a:t>
            </a:r>
            <a:endParaRPr lang="en-US" sz="750" dirty="0"/>
          </a:p>
        </p:txBody>
      </p:sp>
      <p:sp>
        <p:nvSpPr>
          <p:cNvPr id="43" name="Shape 35"/>
          <p:cNvSpPr/>
          <p:nvPr/>
        </p:nvSpPr>
        <p:spPr>
          <a:xfrm>
            <a:off x="4626864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4626864" y="2798064"/>
            <a:ext cx="1993392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Shape 37"/>
          <p:cNvSpPr/>
          <p:nvPr/>
        </p:nvSpPr>
        <p:spPr>
          <a:xfrm>
            <a:off x="4736592" y="2962656"/>
            <a:ext cx="475488" cy="475488"/>
          </a:xfrm>
          <a:prstGeom prst="ellipse">
            <a:avLst/>
          </a:prstGeom>
          <a:solidFill>
            <a:srgbClr val="ECFEFF"/>
          </a:solidFill>
          <a:ln/>
        </p:spPr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31690" y="3057754"/>
            <a:ext cx="285293" cy="285293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285232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Background Services</a:t>
            </a:r>
            <a:endParaRPr lang="en-US" sz="950" dirty="0"/>
          </a:p>
        </p:txBody>
      </p:sp>
      <p:sp>
        <p:nvSpPr>
          <p:cNvPr id="48" name="Text 39"/>
          <p:cNvSpPr/>
          <p:nvPr/>
        </p:nvSpPr>
        <p:spPr>
          <a:xfrm>
            <a:off x="5285232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 lapse · Maturity processing</a:t>
            </a:r>
            <a:endParaRPr lang="en-US" sz="750" dirty="0"/>
          </a:p>
        </p:txBody>
      </p:sp>
      <p:sp>
        <p:nvSpPr>
          <p:cNvPr id="49" name="Shape 40"/>
          <p:cNvSpPr/>
          <p:nvPr/>
        </p:nvSpPr>
        <p:spPr>
          <a:xfrm>
            <a:off x="6803136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6803136" y="2798064"/>
            <a:ext cx="1993392" cy="6400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51" name="Shape 42"/>
          <p:cNvSpPr/>
          <p:nvPr/>
        </p:nvSpPr>
        <p:spPr>
          <a:xfrm>
            <a:off x="6912864" y="2962656"/>
            <a:ext cx="475488" cy="475488"/>
          </a:xfrm>
          <a:prstGeom prst="ellipse">
            <a:avLst/>
          </a:prstGeom>
          <a:solidFill>
            <a:srgbClr val="FCE4EE"/>
          </a:solidFill>
          <a:ln/>
        </p:spPr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7962" y="3057754"/>
            <a:ext cx="285293" cy="285293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7461504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Dashboard</a:t>
            </a:r>
            <a:endParaRPr lang="en-US" sz="950" dirty="0"/>
          </a:p>
        </p:txBody>
      </p:sp>
      <p:sp>
        <p:nvSpPr>
          <p:cNvPr id="54" name="Text 44"/>
          <p:cNvSpPr/>
          <p:nvPr/>
        </p:nvSpPr>
        <p:spPr>
          <a:xfrm>
            <a:off x="7461504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Charts · Stats · Role-based views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Authentication Module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Secure multi-role access with JWT and CAPTCHA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Register / Login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8930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BCrypt password hashing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03120" y="155448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700784"/>
            <a:ext cx="4023360" cy="54864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CAPTCHA Verify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6-char random code challenge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223113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377440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395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JWT Issued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6426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2-hour token · role claims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03120" y="290779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054096"/>
            <a:ext cx="4023360" cy="54864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0723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RBAC Enforced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3192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Admin · Customer · Agent · Officer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103120" y="358444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3730752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3749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Password Reset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959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expiry validation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3440" y="960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5013F"/>
                </a:solidFill>
              </a:rPr>
              <a:t>Role Permissions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261872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261872"/>
            <a:ext cx="64008" cy="77724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12984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Admin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572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6B7280"/>
                </a:solidFill>
              </a:rPr>
              <a:t>Manage plans  ·  View all data  ·  Assign agents ·  Assign claims officers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2157984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2157984"/>
            <a:ext cx="64008" cy="77724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2194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Customer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Buy policies  ·  File claims  ·  Apply loans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63440" y="3054096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054096"/>
            <a:ext cx="64008" cy="77724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37" name="Text 35"/>
          <p:cNvSpPr/>
          <p:nvPr/>
        </p:nvSpPr>
        <p:spPr>
          <a:xfrm>
            <a:off x="480060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00600" y="33649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Approve policies  ·  Earn commission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950208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3950208"/>
            <a:ext cx="64008" cy="77724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986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Claims Officer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42611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Verify claims  ·  Settle/Reject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Policy Purchase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Customer journey from plan exploration to active policy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41248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Explore Plans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Browse active plans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with benefit badges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017520" y="161848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182112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15" name="Text 13"/>
          <p:cNvSpPr/>
          <p:nvPr/>
        </p:nvSpPr>
        <p:spPr>
          <a:xfrm>
            <a:off x="3273552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49040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Configure Policy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9272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Term years, frequency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 amount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25312" y="161848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89904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9904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21" name="Text 19"/>
          <p:cNvSpPr/>
          <p:nvPr/>
        </p:nvSpPr>
        <p:spPr>
          <a:xfrm>
            <a:off x="6181344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56832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Member Details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27064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Add insured members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health &amp; personal info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1248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Premium Preview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Dynamic calculation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instant estimate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017520" y="340156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82112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82112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749040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 Nominees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19272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Share % allocation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beneficiary details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925312" y="340156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089904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89904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8" name="Text 36"/>
          <p:cNvSpPr/>
          <p:nvPr/>
        </p:nvSpPr>
        <p:spPr>
          <a:xfrm>
            <a:off x="6181344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56832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Submit &amp; Approve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Agent reviews &amp;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activates policy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74320" y="4462272"/>
            <a:ext cx="8595360" cy="329184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446227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2400E"/>
                </a:solidFill>
              </a:rPr>
              <a:t>💡  Draft Save System: Customers can save progress at any step and resume later — preventing data loss during long applications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Claims Management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End-to-end claim lifecycle from submission to settlement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4754880" cy="566928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0424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File a Claim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8930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Customer initiates 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468880" y="15727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1719072"/>
            <a:ext cx="4754880" cy="566928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Upload Documents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842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Death cert, medical docs, evidence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468880" y="22677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2414016"/>
            <a:ext cx="4754880" cy="566928"/>
          </a:xfrm>
          <a:prstGeom prst="rect">
            <a:avLst/>
          </a:prstGeom>
          <a:solidFill>
            <a:srgbClr val="FE308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4323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Claim Submitted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6791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Status: Submitted → notification sent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68880" y="296265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4754880" cy="566928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1272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Claims Officer Review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3741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Verify policy + documents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468880" y="365760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0040" y="3803904"/>
            <a:ext cx="4754880" cy="566928"/>
          </a:xfrm>
          <a:prstGeom prst="rect">
            <a:avLst/>
          </a:prstGeom>
          <a:solidFill>
            <a:srgbClr val="059669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38221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Settlement Decision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0690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Settled or Rejected with remarks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39496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5013F"/>
                </a:solidFill>
              </a:rPr>
              <a:t>Claim Outcomes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94960" y="1261872"/>
            <a:ext cx="3474720" cy="1417320"/>
          </a:xfrm>
          <a:prstGeom prst="rect">
            <a:avLst/>
          </a:prstGeom>
          <a:solidFill>
            <a:srgbClr val="ECFDF5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394960" y="1261872"/>
            <a:ext cx="347472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✅  SETTLED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32120" y="16916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Settlement amount disbursed to nominee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532120" y="1920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Policy status → Closed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32120" y="2148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Outstanding loan deducted from payout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32120" y="23774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Bonus included in final amount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94960" y="2834640"/>
            <a:ext cx="3474720" cy="1097280"/>
          </a:xfrm>
          <a:prstGeom prst="rect">
            <a:avLst/>
          </a:prstGeom>
          <a:solidFill>
            <a:srgbClr val="FEF2F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394960" y="2834640"/>
            <a:ext cx="347472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Text 34"/>
          <p:cNvSpPr/>
          <p:nvPr/>
        </p:nvSpPr>
        <p:spPr>
          <a:xfrm>
            <a:off x="5532120" y="2944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❌  REJECTED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32120" y="32644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Rejection remarks provided to customer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3212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Policy remains Active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32120" y="37216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Customer notified via app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394960" y="4069080"/>
            <a:ext cx="1664208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40680" y="4114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☠️  Death Claim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40680" y="43525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Filed by customer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05472" y="4069080"/>
            <a:ext cx="1664208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251192" y="4114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🎯  Maturity Claim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251192" y="43525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Auto-processed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Payment &amp; Notification System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Automated premium management with real-time alerts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0584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💳  Payment Module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3619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Premium Validation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173736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Blocks payment if not yet due (30-day rule)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482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Lapse Check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" y="22311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on Lapsed policies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523744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Extra Installments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27249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Advance NextDueDate with bulk payment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035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Invoice PDF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94360" y="321868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QuestPDF generated, stored in wwwroot/invoices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3511296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Payment History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94360" y="371246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Full transaction log per policy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023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Commission Trigger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94360" y="42062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Agent earns on first payment only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709160" y="100584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1005840"/>
            <a:ext cx="411480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🔔  Notification System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28032" y="153619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8032" y="1536192"/>
            <a:ext cx="45720" cy="40233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4956048" y="1554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Premium Reminder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956048" y="17373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7 days before due date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28032" y="2029968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828032" y="2029968"/>
            <a:ext cx="45720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4956048" y="20482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Policy Approved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956048" y="2231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Agent approves application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28032" y="2523744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0" name="Shape 38"/>
          <p:cNvSpPr/>
          <p:nvPr/>
        </p:nvSpPr>
        <p:spPr>
          <a:xfrm>
            <a:off x="4828032" y="2523744"/>
            <a:ext cx="45720" cy="402336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41" name="Text 39"/>
          <p:cNvSpPr/>
          <p:nvPr/>
        </p:nvSpPr>
        <p:spPr>
          <a:xfrm>
            <a:off x="4956048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Claim Update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56048" y="27249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Status change notifications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28032" y="3017520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4" name="Shape 42"/>
          <p:cNvSpPr/>
          <p:nvPr/>
        </p:nvSpPr>
        <p:spPr>
          <a:xfrm>
            <a:off x="4828032" y="3017520"/>
            <a:ext cx="45720" cy="402336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45" name="Text 43"/>
          <p:cNvSpPr/>
          <p:nvPr/>
        </p:nvSpPr>
        <p:spPr>
          <a:xfrm>
            <a:off x="4956048" y="3035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Loan Approved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56048" y="32186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Disbursement confirmation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28032" y="3511296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8" name="Shape 46"/>
          <p:cNvSpPr/>
          <p:nvPr/>
        </p:nvSpPr>
        <p:spPr>
          <a:xfrm>
            <a:off x="4828032" y="3511296"/>
            <a:ext cx="45720" cy="40233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9" name="Text 47"/>
          <p:cNvSpPr/>
          <p:nvPr/>
        </p:nvSpPr>
        <p:spPr>
          <a:xfrm>
            <a:off x="4956048" y="35295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Maturity Alert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56048" y="37124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Auto-processed settlement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28032" y="400507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8032" y="4005072"/>
            <a:ext cx="45720" cy="4023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3" name="Text 51"/>
          <p:cNvSpPr/>
          <p:nvPr/>
        </p:nvSpPr>
        <p:spPr>
          <a:xfrm>
            <a:off x="4956048" y="4023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Lapse Warning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956048" y="42062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Grace period expiry alert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Dynamic Premium Calculation Formula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91440"/>
            <a:ext cx="457200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987552"/>
            <a:ext cx="8595360" cy="749808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87552"/>
            <a:ext cx="73152" cy="749808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005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E3082"/>
                </a:solidFill>
              </a:rPr>
              <a:t>Formula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2801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DC"/>
                </a:solidFill>
              </a:rPr>
              <a:t>Premium  =  </a:t>
            </a:r>
            <a:r>
              <a:rPr lang="en-US" sz="1100" b="1" dirty="0">
                <a:solidFill>
                  <a:srgbClr val="FFFFFF"/>
                </a:solidFill>
              </a:rPr>
              <a:t>(Coverage ÷ 1000)</a:t>
            </a:r>
            <a:r>
              <a:rPr lang="en-US" sz="1100" dirty="0">
                <a:solidFill>
                  <a:srgbClr val="FFC8DC"/>
                </a:solidFill>
              </a:rPr>
              <a:t>  ×  BaseRate  ×  </a:t>
            </a:r>
            <a:r>
              <a:rPr lang="en-US" sz="1100" b="1" dirty="0">
                <a:solidFill>
                  <a:srgbClr val="FE3082"/>
                </a:solidFill>
              </a:rPr>
              <a:t>AgeFactor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F59E0B"/>
                </a:solidFill>
              </a:rPr>
              <a:t>SmokerFactor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93C5FD"/>
                </a:solidFill>
              </a:rPr>
              <a:t>GenderFactor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6EE7B7"/>
                </a:solidFill>
              </a:rPr>
              <a:t>TermFactor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FDE68A"/>
                </a:solidFill>
              </a:rPr>
              <a:t>1.18</a:t>
            </a:r>
            <a:r>
              <a:rPr lang="en-US" sz="900" dirty="0">
                <a:solidFill>
                  <a:srgbClr val="FFC8DC"/>
                </a:solidFill>
              </a:rPr>
              <a:t> (GST)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" y="1874520"/>
            <a:ext cx="2697480" cy="54864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12" name="Shape 9"/>
          <p:cNvSpPr/>
          <p:nvPr/>
        </p:nvSpPr>
        <p:spPr>
          <a:xfrm>
            <a:off x="384048" y="2002536"/>
            <a:ext cx="384048" cy="384048"/>
          </a:xfrm>
          <a:prstGeom prst="ellipse">
            <a:avLst/>
          </a:prstGeom>
          <a:solidFill>
            <a:srgbClr val="75013F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7568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4124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Coverage / 1000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84124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Base Unit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38404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Premium is calculated per ₹1,000 of coverage amount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42062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5013F"/>
                </a:solidFill>
              </a:rPr>
              <a:t>₹10,00,000 coverage → 1000 units</a:t>
            </a:r>
            <a:endParaRPr lang="en-US" sz="680" dirty="0"/>
          </a:p>
        </p:txBody>
      </p:sp>
      <p:sp>
        <p:nvSpPr>
          <p:cNvPr id="19" name="Shape 15"/>
          <p:cNvSpPr/>
          <p:nvPr/>
        </p:nvSpPr>
        <p:spPr>
          <a:xfrm>
            <a:off x="315468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154680" y="1874520"/>
            <a:ext cx="2697480" cy="54864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21" name="Shape 17"/>
          <p:cNvSpPr/>
          <p:nvPr/>
        </p:nvSpPr>
        <p:spPr>
          <a:xfrm>
            <a:off x="3264408" y="2002536"/>
            <a:ext cx="384048" cy="384048"/>
          </a:xfrm>
          <a:prstGeom prst="ellipse">
            <a:avLst/>
          </a:prstGeom>
          <a:solidFill>
            <a:srgbClr val="92400E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07568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72160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2400E"/>
                </a:solidFill>
              </a:rPr>
              <a:t>Age Factor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372160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Risk by Age</a:t>
            </a:r>
            <a:endParaRPr lang="en-US" sz="700" dirty="0"/>
          </a:p>
        </p:txBody>
      </p:sp>
      <p:sp>
        <p:nvSpPr>
          <p:cNvPr id="25" name="Text 20"/>
          <p:cNvSpPr/>
          <p:nvPr/>
        </p:nvSpPr>
        <p:spPr>
          <a:xfrm>
            <a:off x="326440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Older applicants carry higher mortality risk → higher factor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330098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18-25 → 1.0    Age 36-45 → 1.3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26-35 → 1.1    Age 46-55 → 1.6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56+  → 2.0</a:t>
            </a:r>
            <a:endParaRPr lang="en-US" sz="680" dirty="0"/>
          </a:p>
        </p:txBody>
      </p:sp>
      <p:sp>
        <p:nvSpPr>
          <p:cNvPr id="28" name="Shape 23"/>
          <p:cNvSpPr/>
          <p:nvPr/>
        </p:nvSpPr>
        <p:spPr>
          <a:xfrm>
            <a:off x="603504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035040" y="1874520"/>
            <a:ext cx="2697480" cy="54864"/>
          </a:xfrm>
          <a:prstGeom prst="rect">
            <a:avLst/>
          </a:prstGeom>
          <a:solidFill>
            <a:srgbClr val="7F1D1D"/>
          </a:solidFill>
          <a:ln/>
        </p:spPr>
      </p:sp>
      <p:sp>
        <p:nvSpPr>
          <p:cNvPr id="30" name="Shape 25"/>
          <p:cNvSpPr/>
          <p:nvPr/>
        </p:nvSpPr>
        <p:spPr>
          <a:xfrm>
            <a:off x="6144768" y="2002536"/>
            <a:ext cx="384048" cy="384048"/>
          </a:xfrm>
          <a:prstGeom prst="ellipse">
            <a:avLst/>
          </a:prstGeom>
          <a:solidFill>
            <a:srgbClr val="7F1D1D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075688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60196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</a:rPr>
              <a:t>Smoker Factor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660196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Lifestyle Risk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14476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Smoking significantly increases health risk and mortality rate</a:t>
            </a:r>
            <a:endParaRPr lang="en-US" sz="750" dirty="0"/>
          </a:p>
        </p:txBody>
      </p:sp>
      <p:sp>
        <p:nvSpPr>
          <p:cNvPr id="36" name="Text 30"/>
          <p:cNvSpPr/>
          <p:nvPr/>
        </p:nvSpPr>
        <p:spPr>
          <a:xfrm>
            <a:off x="618134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F1D1D"/>
                </a:solidFill>
              </a:rPr>
              <a:t>Non-Smoker → 1.0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F1D1D"/>
                </a:solidFill>
              </a:rPr>
              <a:t>Smoker       → 1.5  (+50% premium)</a:t>
            </a:r>
            <a:endParaRPr lang="en-US" sz="680" dirty="0"/>
          </a:p>
        </p:txBody>
      </p:sp>
      <p:sp>
        <p:nvSpPr>
          <p:cNvPr id="37" name="Shape 31"/>
          <p:cNvSpPr/>
          <p:nvPr/>
        </p:nvSpPr>
        <p:spPr>
          <a:xfrm>
            <a:off x="27432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274320" y="3291840"/>
            <a:ext cx="2697480" cy="5486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" name="Shape 33"/>
          <p:cNvSpPr/>
          <p:nvPr/>
        </p:nvSpPr>
        <p:spPr>
          <a:xfrm>
            <a:off x="384048" y="3419856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49300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4124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Gender Factor</a:t>
            </a:r>
            <a:endParaRPr lang="en-US" sz="950" dirty="0"/>
          </a:p>
        </p:txBody>
      </p:sp>
      <p:sp>
        <p:nvSpPr>
          <p:cNvPr id="42" name="Text 35"/>
          <p:cNvSpPr/>
          <p:nvPr/>
        </p:nvSpPr>
        <p:spPr>
          <a:xfrm>
            <a:off x="84124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Statistical Risk</a:t>
            </a:r>
            <a:endParaRPr lang="en-US" sz="700" dirty="0"/>
          </a:p>
        </p:txBody>
      </p:sp>
      <p:sp>
        <p:nvSpPr>
          <p:cNvPr id="43" name="Text 36"/>
          <p:cNvSpPr/>
          <p:nvPr/>
        </p:nvSpPr>
        <p:spPr>
          <a:xfrm>
            <a:off x="38404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Actuarial tables show different mortality rates by gender</a:t>
            </a:r>
            <a:endParaRPr lang="en-US" sz="750" dirty="0"/>
          </a:p>
        </p:txBody>
      </p:sp>
      <p:sp>
        <p:nvSpPr>
          <p:cNvPr id="45" name="Text 38"/>
          <p:cNvSpPr/>
          <p:nvPr/>
        </p:nvSpPr>
        <p:spPr>
          <a:xfrm>
            <a:off x="42062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Female → 0.95  (lower risk)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Male   → 1.0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Other  → 1.0</a:t>
            </a:r>
            <a:endParaRPr lang="en-US" sz="680" dirty="0"/>
          </a:p>
        </p:txBody>
      </p:sp>
      <p:sp>
        <p:nvSpPr>
          <p:cNvPr id="46" name="Shape 39"/>
          <p:cNvSpPr/>
          <p:nvPr/>
        </p:nvSpPr>
        <p:spPr>
          <a:xfrm>
            <a:off x="315468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7" name="Shape 40"/>
          <p:cNvSpPr/>
          <p:nvPr/>
        </p:nvSpPr>
        <p:spPr>
          <a:xfrm>
            <a:off x="3154680" y="3291840"/>
            <a:ext cx="2697480" cy="54864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8" name="Shape 41"/>
          <p:cNvSpPr/>
          <p:nvPr/>
        </p:nvSpPr>
        <p:spPr>
          <a:xfrm>
            <a:off x="3264408" y="3419856"/>
            <a:ext cx="384048" cy="384048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3493008"/>
            <a:ext cx="237744" cy="237744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372160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4E3B"/>
                </a:solidFill>
              </a:rPr>
              <a:t>Term Factor</a:t>
            </a:r>
            <a:endParaRPr lang="en-US" sz="950" dirty="0"/>
          </a:p>
        </p:txBody>
      </p:sp>
      <p:sp>
        <p:nvSpPr>
          <p:cNvPr id="51" name="Text 43"/>
          <p:cNvSpPr/>
          <p:nvPr/>
        </p:nvSpPr>
        <p:spPr>
          <a:xfrm>
            <a:off x="372160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Duration Risk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32644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Longer policy term = higher cumulative risk exposure</a:t>
            </a:r>
            <a:endParaRPr lang="en-US" sz="750" dirty="0"/>
          </a:p>
        </p:txBody>
      </p:sp>
      <p:sp>
        <p:nvSpPr>
          <p:cNvPr id="54" name="Text 46"/>
          <p:cNvSpPr/>
          <p:nvPr/>
        </p:nvSpPr>
        <p:spPr>
          <a:xfrm>
            <a:off x="330098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064E3B"/>
                </a:solidFill>
              </a:rPr>
              <a:t>≤10 yrs → 0.9    21-30 yrs → 1.1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064E3B"/>
                </a:solidFill>
              </a:rPr>
              <a:t>11-20 yrs → 1.0   31+ yrs  → 1.2</a:t>
            </a:r>
            <a:endParaRPr lang="en-US" sz="680" dirty="0"/>
          </a:p>
        </p:txBody>
      </p:sp>
      <p:sp>
        <p:nvSpPr>
          <p:cNvPr id="55" name="Shape 47"/>
          <p:cNvSpPr/>
          <p:nvPr/>
        </p:nvSpPr>
        <p:spPr>
          <a:xfrm>
            <a:off x="603504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56" name="Shape 48"/>
          <p:cNvSpPr/>
          <p:nvPr/>
        </p:nvSpPr>
        <p:spPr>
          <a:xfrm>
            <a:off x="6035040" y="3291840"/>
            <a:ext cx="2697480" cy="54864"/>
          </a:xfrm>
          <a:prstGeom prst="rect">
            <a:avLst/>
          </a:prstGeom>
          <a:solidFill>
            <a:srgbClr val="78350F"/>
          </a:solidFill>
          <a:ln/>
        </p:spPr>
      </p:sp>
      <p:sp>
        <p:nvSpPr>
          <p:cNvPr id="57" name="Shape 49"/>
          <p:cNvSpPr/>
          <p:nvPr/>
        </p:nvSpPr>
        <p:spPr>
          <a:xfrm>
            <a:off x="6144768" y="3419856"/>
            <a:ext cx="384048" cy="384048"/>
          </a:xfrm>
          <a:prstGeom prst="ellipse">
            <a:avLst/>
          </a:prstGeom>
          <a:solidFill>
            <a:srgbClr val="78350F"/>
          </a:solidFill>
          <a:ln/>
        </p:spPr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493008"/>
            <a:ext cx="237744" cy="237744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660196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</a:rPr>
              <a:t>GST × 1.18</a:t>
            </a:r>
            <a:endParaRPr lang="en-US" sz="950" dirty="0"/>
          </a:p>
        </p:txBody>
      </p:sp>
      <p:sp>
        <p:nvSpPr>
          <p:cNvPr id="60" name="Text 51"/>
          <p:cNvSpPr/>
          <p:nvPr/>
        </p:nvSpPr>
        <p:spPr>
          <a:xfrm>
            <a:off x="660196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Tax Component</a:t>
            </a:r>
            <a:endParaRPr lang="en-US" sz="700" dirty="0"/>
          </a:p>
        </p:txBody>
      </p:sp>
      <p:sp>
        <p:nvSpPr>
          <p:cNvPr id="61" name="Text 52"/>
          <p:cNvSpPr/>
          <p:nvPr/>
        </p:nvSpPr>
        <p:spPr>
          <a:xfrm>
            <a:off x="614476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18% Goods &amp; Services Tax applied on the calculated premium</a:t>
            </a:r>
            <a:endParaRPr lang="en-US" sz="750" dirty="0"/>
          </a:p>
        </p:txBody>
      </p:sp>
      <p:sp>
        <p:nvSpPr>
          <p:cNvPr id="63" name="Text 54"/>
          <p:cNvSpPr/>
          <p:nvPr/>
        </p:nvSpPr>
        <p:spPr>
          <a:xfrm>
            <a:off x="618134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Base Premium ₹1,000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+ 18% GST   ₹180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= Final       ₹1,180</a:t>
            </a:r>
            <a:endParaRPr lang="en-US" sz="680" dirty="0"/>
          </a:p>
        </p:txBody>
      </p:sp>
      <p:sp>
        <p:nvSpPr>
          <p:cNvPr id="64" name="Shape 5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0010"/>
          </a:solidFill>
          <a:ln/>
        </p:spPr>
      </p:sp>
      <p:sp>
        <p:nvSpPr>
          <p:cNvPr id="65" name="Text 56"/>
          <p:cNvSpPr/>
          <p:nvPr/>
        </p:nvSpPr>
        <p:spPr>
          <a:xfrm>
            <a:off x="274320" y="4709160"/>
            <a:ext cx="85953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E3082"/>
                </a:solidFill>
              </a:rPr>
              <a:t>Example:  </a:t>
            </a:r>
            <a:r>
              <a:rPr lang="en-US" sz="850" dirty="0">
                <a:solidFill>
                  <a:srgbClr val="FFC8DC"/>
                </a:solidFill>
              </a:rPr>
              <a:t>Coverage ₹10L  |  Age 35  |  Male  |  Non-Smoker  |  20yr Term  |  Base Rate 2%    →    </a:t>
            </a:r>
            <a:r>
              <a:rPr lang="en-US" sz="850" dirty="0">
                <a:solidFill>
                  <a:srgbClr val="E5E7EB"/>
                </a:solidFill>
              </a:rPr>
              <a:t>(1000 × 2) × 1.1 × 1.0 × 1.0 × 1.0 × 1.18</a:t>
            </a:r>
            <a:r>
              <a:rPr lang="en-US" sz="950" b="1" dirty="0">
                <a:solidFill>
                  <a:srgbClr val="FE3082"/>
                </a:solidFill>
              </a:rPr>
              <a:t>  =  ₹2,596 / installment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Advanced Plan Features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Plan types with specialized financial instruments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24128"/>
            <a:ext cx="420624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1338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1161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Coverage Increasing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5270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 grows annually by a fixed % (e.g. 5%/yr). A ₹2,00,000 policy becomes ₹3,42,068 after 11 years.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1480" y="2286000"/>
            <a:ext cx="3931920" cy="22860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</a:rPr>
              <a:t>Formula: Coverage × (1 + rate)^years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2412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11338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🎁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03520" y="1161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Bonus &amp; Profits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15270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Annual bonus (% of SA) + terminal bonus at maturity. Increases total claim/maturity payout.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846320" y="2286000"/>
            <a:ext cx="3931920" cy="2286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</a:rPr>
              <a:t>Formula: SA + (SA × rate × years) + terminal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280720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2807208"/>
            <a:ext cx="420624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🏦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2944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Policy Loan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3101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Loan against surrender value (30% of premiums paid). Max loan = surrender × plan %. Interest-first repayment.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4069080"/>
            <a:ext cx="3931920" cy="2286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0690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369A1"/>
                </a:solidFill>
              </a:rPr>
              <a:t>Formula: Surrender × MaxLoan% = eligible amount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709160" y="280720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807208"/>
            <a:ext cx="420624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91693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♾️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03520" y="2944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</a:rPr>
              <a:t>Whole Life Coverage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33101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CoverageUntilAge=100. No term selection needed. EndDate calculated from member DOB + 100 years.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846320" y="4069080"/>
            <a:ext cx="3931920" cy="22860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40690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59669"/>
                </a:solidFill>
              </a:rPr>
              <a:t>Formula: EndDate = DOB + CoverageUntilAge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7"/>
          <p:cNvSpPr/>
          <p:nvPr/>
        </p:nvSpPr>
        <p:spPr>
          <a:xfrm>
            <a:off x="3218688" y="100584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Unique Features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2743200" cy="91440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Dynamic Premium Calculation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" y="212140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199796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Risk factors: age, gender, smoking status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8912" y="265176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251917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Coverage amount &amp; term multipliers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8912" y="3182112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035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GST inclusion (18%) + agent commission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8912" y="371246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5890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Real-time estimate before purchase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18688" y="1005840"/>
            <a:ext cx="2743200" cy="914400"/>
          </a:xfrm>
          <a:prstGeom prst="rect">
            <a:avLst/>
          </a:prstGeom>
          <a:solidFill>
            <a:srgbClr val="A8024F"/>
          </a:solidFill>
          <a:ln/>
        </p:spPr>
      </p:sp>
      <p:sp>
        <p:nvSpPr>
          <p:cNvPr id="22" name="Text 20"/>
          <p:cNvSpPr/>
          <p:nvPr/>
        </p:nvSpPr>
        <p:spPr>
          <a:xfrm>
            <a:off x="3831336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Policy Draft Management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51276" y="220370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24" name="Text 22"/>
          <p:cNvSpPr/>
          <p:nvPr/>
        </p:nvSpPr>
        <p:spPr>
          <a:xfrm>
            <a:off x="3566160" y="20665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Save incomplete applications at any step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51276" y="2734056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596896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Resume from exactly where you left off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51276" y="326440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31272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No data loss during long processes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51276" y="379476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30" name="Text 28"/>
          <p:cNvSpPr/>
          <p:nvPr/>
        </p:nvSpPr>
        <p:spPr>
          <a:xfrm>
            <a:off x="356616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Multiple session support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63056" y="1060704"/>
            <a:ext cx="2743200" cy="364908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63056" y="1005840"/>
            <a:ext cx="2743200" cy="9144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4" name="Text 32"/>
          <p:cNvSpPr/>
          <p:nvPr/>
        </p:nvSpPr>
        <p:spPr>
          <a:xfrm>
            <a:off x="6991027" y="11938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Automated Monitoring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27648" y="221284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36" name="Text 34"/>
          <p:cNvSpPr/>
          <p:nvPr/>
        </p:nvSpPr>
        <p:spPr>
          <a:xfrm>
            <a:off x="6510528" y="20665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Daily background service checks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27648" y="274320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38" name="Text 36"/>
          <p:cNvSpPr/>
          <p:nvPr/>
        </p:nvSpPr>
        <p:spPr>
          <a:xfrm>
            <a:off x="6510528" y="2596896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Due Soon → Grace Period → Lapsed auto-update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27648" y="3273552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40" name="Text 38"/>
          <p:cNvSpPr/>
          <p:nvPr/>
        </p:nvSpPr>
        <p:spPr>
          <a:xfrm>
            <a:off x="6510528" y="31272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7-day advance premium reminders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327648" y="380390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</p:sp>
      <p:sp>
        <p:nvSpPr>
          <p:cNvPr id="42" name="Text 40"/>
          <p:cNvSpPr/>
          <p:nvPr/>
        </p:nvSpPr>
        <p:spPr>
          <a:xfrm>
            <a:off x="6510528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Auto maturity processing with bonus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Background Services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Three automated daily services managing policy health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06216"/>
            <a:ext cx="2743200" cy="3291464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2743200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Premium Reminder Service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6616" y="1837944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all Active policies with NextDueDate within 7 days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56616" y="2496312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" y="2496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3232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Sends in-app notification to customer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56616" y="3154680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" y="3154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Sends email reminder via MailKit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56616" y="3813048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Prevents missed premium payments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18688" y="1016612"/>
            <a:ext cx="2743200" cy="3291464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18688" y="1005840"/>
            <a:ext cx="2743200" cy="5669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3328416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Lapse Policy Service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28416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328416" y="1837944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3328416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0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Active policies where NextDueDate + GracePeriod &lt; today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328416" y="2496312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1" name="Text 29"/>
          <p:cNvSpPr/>
          <p:nvPr/>
        </p:nvSpPr>
        <p:spPr>
          <a:xfrm>
            <a:off x="3328416" y="2496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0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Updates policy Status → Lapsed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328416" y="3154680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4" name="Text 32"/>
          <p:cNvSpPr/>
          <p:nvPr/>
        </p:nvSpPr>
        <p:spPr>
          <a:xfrm>
            <a:off x="3328416" y="3154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0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Notifies customer of lapse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328416" y="3813048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7" name="Text 35"/>
          <p:cNvSpPr/>
          <p:nvPr/>
        </p:nvSpPr>
        <p:spPr>
          <a:xfrm>
            <a:off x="3328416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0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Blocks further payments until reinstated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63056" y="1006216"/>
            <a:ext cx="2743200" cy="33018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63056" y="1005840"/>
            <a:ext cx="2743200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1" name="Text 39"/>
          <p:cNvSpPr/>
          <p:nvPr/>
        </p:nvSpPr>
        <p:spPr>
          <a:xfrm>
            <a:off x="6272784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Maturity Processing Service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272784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272784" y="1831932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4" name="Text 42"/>
          <p:cNvSpPr/>
          <p:nvPr/>
        </p:nvSpPr>
        <p:spPr>
          <a:xfrm>
            <a:off x="6272784" y="18319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01968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Active policies where EndDate &lt; today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272784" y="2490300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7" name="Text 45"/>
          <p:cNvSpPr/>
          <p:nvPr/>
        </p:nvSpPr>
        <p:spPr>
          <a:xfrm>
            <a:off x="6272784" y="24903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2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01968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HasMaturityBenefit=true → auto Settled claim with bonus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272784" y="3148668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0" name="Text 48"/>
          <p:cNvSpPr/>
          <p:nvPr/>
        </p:nvSpPr>
        <p:spPr>
          <a:xfrm>
            <a:off x="6272784" y="31486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01968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HasMaturityBenefit=false → policy → Expired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272784" y="3807036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3" name="Text 51"/>
          <p:cNvSpPr/>
          <p:nvPr/>
        </p:nvSpPr>
        <p:spPr>
          <a:xfrm>
            <a:off x="6272784" y="38070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01968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Outstanding loan deducted from settlement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10896" y="4489704"/>
            <a:ext cx="4755882" cy="256032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56" name="Text 54"/>
          <p:cNvSpPr/>
          <p:nvPr/>
        </p:nvSpPr>
        <p:spPr>
          <a:xfrm>
            <a:off x="411480" y="4510372"/>
            <a:ext cx="45738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1D95"/>
                </a:solidFill>
              </a:rPr>
              <a:t>🔧  All services registered as AddHostedService&lt;T&gt; in Program.cs — run automatically on application startup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Database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13 core entities with relationships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24128"/>
            <a:ext cx="2011680" cy="64008"/>
          </a:xfrm>
          <a:prstGeom prst="rect">
            <a:avLst/>
          </a:prstGeom>
          <a:solidFill>
            <a:srgbClr val="75013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User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Id · Name · Email · Role · BCryptHash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450592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50592" y="1024128"/>
            <a:ext cx="2011680" cy="64008"/>
          </a:xfrm>
          <a:prstGeom prst="rect">
            <a:avLst/>
          </a:prstGeom>
          <a:solidFill>
            <a:srgbClr val="A8024F"/>
          </a:solidFill>
          <a:ln/>
        </p:spPr>
      </p:sp>
      <p:sp>
        <p:nvSpPr>
          <p:cNvPr id="13" name="Text 11"/>
          <p:cNvSpPr/>
          <p:nvPr/>
        </p:nvSpPr>
        <p:spPr>
          <a:xfrm>
            <a:off x="2542032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024F"/>
                </a:solidFill>
              </a:rPr>
              <a:t>Plan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42032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PlanType · Rates · Limits · LoanConfig · Bonus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26864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024128"/>
            <a:ext cx="2011680" cy="64008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17" name="Text 15"/>
          <p:cNvSpPr/>
          <p:nvPr/>
        </p:nvSpPr>
        <p:spPr>
          <a:xfrm>
            <a:off x="4718304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E3082"/>
                </a:solidFill>
              </a:rPr>
              <a:t>PolicyAssignment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18304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PolicyNumber · Status · Dates · Premium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803136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024128"/>
            <a:ext cx="201168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894576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</a:rPr>
              <a:t>PolicyMember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94576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CoverageAmount · DOB · Smoker · Occupation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212848"/>
            <a:ext cx="201168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369A1"/>
                </a:solidFill>
              </a:rPr>
              <a:t>PolicyNominee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Name · Relationship · SharePercentage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450592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50592" y="2212848"/>
            <a:ext cx="201168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2542032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Payment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42032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Amount · Status · InvoiceNumber · Date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26864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26864" y="2212848"/>
            <a:ext cx="201168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4718304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InsuranceClaim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18304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ClaimType · Status · SettlementAmount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03136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803136" y="2212848"/>
            <a:ext cx="20116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6894576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Document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4576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Category · FilePath · UploadedAt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74320" y="340156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74320" y="3401568"/>
            <a:ext cx="201168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</a:rPr>
              <a:t>Notification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5760" y="378561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Type · Title · IsRead · UserId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450592" y="340156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50592" y="3401568"/>
            <a:ext cx="201168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5" name="Text 43"/>
          <p:cNvSpPr/>
          <p:nvPr/>
        </p:nvSpPr>
        <p:spPr>
          <a:xfrm>
            <a:off x="2542032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PolicyLoan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42032" y="378561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LoanAmount · OutstandingBalance · Status</a:t>
            </a:r>
            <a:endParaRPr lang="en-US" sz="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501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82933" y="3078480"/>
            <a:ext cx="3657600" cy="365760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-1600200"/>
            <a:ext cx="3200400" cy="320040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434840"/>
            <a:ext cx="2926080" cy="708660"/>
          </a:xfrm>
          <a:prstGeom prst="rect">
            <a:avLst/>
          </a:prstGeom>
          <a:solidFill>
            <a:srgbClr val="FE30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2761" y="1653967"/>
            <a:ext cx="7144173" cy="2399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600" dirty="0">
                <a:solidFill>
                  <a:schemeClr val="bg1"/>
                </a:solidFill>
              </a:rPr>
              <a:t>I would like to express my sincere gratitude to </a:t>
            </a:r>
            <a:r>
              <a:rPr lang="en-US" sz="1600" b="1" dirty="0">
                <a:solidFill>
                  <a:schemeClr val="bg1"/>
                </a:solidFill>
              </a:rPr>
              <a:t>The Hartford </a:t>
            </a:r>
            <a:r>
              <a:rPr lang="en-US" sz="1600" dirty="0">
                <a:solidFill>
                  <a:schemeClr val="bg1"/>
                </a:solidFill>
              </a:rPr>
              <a:t>for providing this valuable opportunity to learn and grow. I would also like to thank </a:t>
            </a:r>
            <a:r>
              <a:rPr lang="en-US" sz="1600" b="1" dirty="0">
                <a:solidFill>
                  <a:schemeClr val="bg1"/>
                </a:solidFill>
              </a:rPr>
              <a:t>GUVI–HCL </a:t>
            </a:r>
            <a:r>
              <a:rPr lang="en-US" sz="1600" dirty="0">
                <a:solidFill>
                  <a:schemeClr val="bg1"/>
                </a:solidFill>
              </a:rPr>
              <a:t>for organizing and delivering the training program. My heartfelt thanks to our trainer, </a:t>
            </a:r>
            <a:r>
              <a:rPr lang="en-US" sz="1600" b="1" dirty="0">
                <a:solidFill>
                  <a:schemeClr val="bg1"/>
                </a:solidFill>
              </a:rPr>
              <a:t>Mr. Ranjan Bhatnagar</a:t>
            </a:r>
            <a:r>
              <a:rPr lang="en-US" sz="1600" dirty="0">
                <a:solidFill>
                  <a:schemeClr val="bg1"/>
                </a:solidFill>
              </a:rPr>
              <a:t>, for his guidance and insightful sessions throughout the training. I am also grateful to our leaders, </a:t>
            </a:r>
            <a:r>
              <a:rPr lang="en-US" sz="1600" b="1" dirty="0">
                <a:solidFill>
                  <a:schemeClr val="bg1"/>
                </a:solidFill>
              </a:rPr>
              <a:t>Mr. Surya </a:t>
            </a:r>
            <a:r>
              <a:rPr lang="en-US" sz="1600" b="1" dirty="0" err="1">
                <a:solidFill>
                  <a:schemeClr val="bg1"/>
                </a:solidFill>
              </a:rPr>
              <a:t>Thammiraju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and </a:t>
            </a:r>
            <a:r>
              <a:rPr lang="en-US" sz="1600" b="1" dirty="0">
                <a:solidFill>
                  <a:schemeClr val="bg1"/>
                </a:solidFill>
              </a:rPr>
              <a:t>Ms. Padmavati Rallapalli</a:t>
            </a:r>
            <a:r>
              <a:rPr lang="en-US" sz="1600" dirty="0">
                <a:solidFill>
                  <a:schemeClr val="bg1"/>
                </a:solidFill>
              </a:rPr>
              <a:t>, for their continuous support and encouragement. Special thanks to </a:t>
            </a:r>
            <a:r>
              <a:rPr lang="en-US" sz="1600" b="1" dirty="0">
                <a:solidFill>
                  <a:schemeClr val="bg1"/>
                </a:solidFill>
              </a:rPr>
              <a:t>Mr. Koti Rama Murthy Davuluri</a:t>
            </a:r>
            <a:r>
              <a:rPr lang="en-US" sz="1600" dirty="0">
                <a:solidFill>
                  <a:schemeClr val="bg1"/>
                </a:solidFill>
              </a:rPr>
              <a:t>, for his coordination and assistance during the entire program. Thank you all for your support and guidance.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94E017-DA07-895C-0FAA-7D355CF3CC53}"/>
              </a:ext>
            </a:extLst>
          </p:cNvPr>
          <p:cNvSpPr txBox="1"/>
          <p:nvPr/>
        </p:nvSpPr>
        <p:spPr>
          <a:xfrm>
            <a:off x="4690533" y="811302"/>
            <a:ext cx="62145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54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714</TotalTime>
  <Words>1498</Words>
  <Application>Microsoft Office PowerPoint</Application>
  <PresentationFormat>On-screen Show (16:9)</PresentationFormat>
  <Paragraphs>328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Hartford Insurance Management System</dc:title>
  <dc:subject>PptxGenJS Presentation</dc:subject>
  <dc:creator>PptxGenJS</dc:creator>
  <cp:lastModifiedBy>HP</cp:lastModifiedBy>
  <cp:revision>7</cp:revision>
  <dcterms:created xsi:type="dcterms:W3CDTF">2026-03-08T18:45:18Z</dcterms:created>
  <dcterms:modified xsi:type="dcterms:W3CDTF">2026-03-09T17:00:31Z</dcterms:modified>
</cp:coreProperties>
</file>