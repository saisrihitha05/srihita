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0" r:id="rId10"/>
    <p:sldId id="264" r:id="rId11"/>
    <p:sldId id="263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5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50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A8024F"/>
          </a:solidFill>
          <a:ln w="12700">
            <a:solidFill>
              <a:srgbClr val="A80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2377440" cy="2377440"/>
          </a:xfrm>
          <a:prstGeom prst="ellipse">
            <a:avLst/>
          </a:prstGeom>
          <a:solidFill>
            <a:srgbClr val="FE3082"/>
          </a:solidFill>
          <a:ln w="12700">
            <a:solidFill>
              <a:srgbClr val="FE3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10058400" cy="160020"/>
          </a:xfrm>
          <a:prstGeom prst="rect">
            <a:avLst/>
          </a:prstGeom>
          <a:solidFill>
            <a:srgbClr val="FE30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508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</a:rPr>
              <a:t>Hartford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1148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E3082"/>
                </a:solidFill>
              </a:rPr>
              <a:t>Life Insurance Management System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8DC"/>
                </a:solidFill>
              </a:rPr>
              <a:t>A Centralized Digital Platform for the Complete Insurance Lifecycle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3246120"/>
            <a:ext cx="1325880" cy="256032"/>
          </a:xfrm>
          <a:prstGeom prst="rect">
            <a:avLst/>
          </a:prstGeom>
          <a:solidFill>
            <a:srgbClr val="1A0010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E3082"/>
                </a:solidFill>
              </a:rPr>
              <a:t>ASP.NET Core 8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927321" y="3246120"/>
            <a:ext cx="1325880" cy="256032"/>
          </a:xfrm>
          <a:prstGeom prst="rect">
            <a:avLst/>
          </a:prstGeom>
          <a:solidFill>
            <a:srgbClr val="1A0010"/>
          </a:solidFill>
          <a:ln/>
        </p:spPr>
      </p:sp>
      <p:sp>
        <p:nvSpPr>
          <p:cNvPr id="13" name="Text 10"/>
          <p:cNvSpPr/>
          <p:nvPr/>
        </p:nvSpPr>
        <p:spPr>
          <a:xfrm>
            <a:off x="1918949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E3082"/>
                </a:solidFill>
              </a:rPr>
              <a:t>Angular 20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443162" y="3246120"/>
            <a:ext cx="1325880" cy="256032"/>
          </a:xfrm>
          <a:prstGeom prst="rect">
            <a:avLst/>
          </a:prstGeom>
          <a:solidFill>
            <a:srgbClr val="1A0010"/>
          </a:solidFill>
          <a:ln/>
        </p:spPr>
      </p:sp>
      <p:sp>
        <p:nvSpPr>
          <p:cNvPr id="15" name="Text 12"/>
          <p:cNvSpPr/>
          <p:nvPr/>
        </p:nvSpPr>
        <p:spPr>
          <a:xfrm>
            <a:off x="343479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E3082"/>
                </a:solidFill>
              </a:rPr>
              <a:t>SQL Server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995064" y="3246120"/>
            <a:ext cx="1325880" cy="256032"/>
          </a:xfrm>
          <a:prstGeom prst="rect">
            <a:avLst/>
          </a:prstGeom>
          <a:solidFill>
            <a:srgbClr val="1A001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5036281" y="322744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E3082"/>
                </a:solidFill>
              </a:rPr>
              <a:t>JWT Auth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629400" y="3227188"/>
            <a:ext cx="1325880" cy="256032"/>
          </a:xfrm>
          <a:prstGeom prst="rect">
            <a:avLst/>
          </a:prstGeom>
          <a:solidFill>
            <a:srgbClr val="1A0010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3221779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E3082"/>
                </a:solidFill>
              </a:rPr>
              <a:t>Clean Architecture</a:t>
            </a:r>
            <a:endParaRPr lang="en-US" sz="7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1E864-F705-2C0A-170C-2BFE07AEF1ED}"/>
              </a:ext>
            </a:extLst>
          </p:cNvPr>
          <p:cNvSpPr txBox="1"/>
          <p:nvPr/>
        </p:nvSpPr>
        <p:spPr>
          <a:xfrm>
            <a:off x="339681" y="3767508"/>
            <a:ext cx="5032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-  </a:t>
            </a:r>
            <a:r>
              <a:rPr lang="en-US" sz="1800" b="1" dirty="0">
                <a:solidFill>
                  <a:srgbClr val="FFFFFF"/>
                </a:solidFill>
              </a:rPr>
              <a:t>By Sai Srihitha </a:t>
            </a:r>
            <a:r>
              <a:rPr lang="en-US" sz="1800" b="1" dirty="0" err="1">
                <a:solidFill>
                  <a:srgbClr val="FFFFFF"/>
                </a:solidFill>
              </a:rPr>
              <a:t>Kamtala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C5023C-AA5A-74A1-E037-CB4BA10BEC8F}"/>
              </a:ext>
            </a:extLst>
          </p:cNvPr>
          <p:cNvSpPr txBox="1"/>
          <p:nvPr/>
        </p:nvSpPr>
        <p:spPr>
          <a:xfrm>
            <a:off x="519985" y="4133088"/>
            <a:ext cx="50324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FFFFFF"/>
                </a:solidFill>
              </a:rPr>
              <a:t>Intern, Hartford (Dec 25 – Mar 26)</a:t>
            </a:r>
            <a:endParaRPr lang="en-IN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Why a new insurance management system is needed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50292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24128"/>
            <a:ext cx="64008" cy="3520440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972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5013F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Life insurance provides financial protection to individuals and families, offering monetary support during unexpected events and serving as a long-term financial security tool.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/>
              <a:t>However, many existing platforms focus only on basic transactional services and fail to deliver: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64592" cy="16459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010"/>
                </a:solidFill>
              </a:rPr>
              <a:t>Sufficient transparency in policy lifecycle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64592" cy="16459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729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010"/>
                </a:solidFill>
              </a:rPr>
              <a:t>Structured and trackable claim management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64592" cy="16459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20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010"/>
                </a:solidFill>
              </a:rPr>
              <a:t>Operational efficiency across roles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164592" cy="16459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679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0010"/>
                </a:solidFill>
              </a:rPr>
              <a:t>Automated premium and lapse monitoring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024128"/>
            <a:ext cx="3246120" cy="3520440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508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C8DC"/>
                </a:solidFill>
              </a:rPr>
              <a:t>A centralized digital platform managing the entire insurance lifecycle — from plan creation to claim settlement.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331720"/>
            <a:ext cx="1417320" cy="804672"/>
          </a:xfrm>
          <a:prstGeom prst="rect">
            <a:avLst/>
          </a:prstGeom>
          <a:solidFill>
            <a:srgbClr val="A8024F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3082"/>
                </a:solidFill>
              </a:rPr>
              <a:t>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69280" y="2752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Integrated Modules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23760" y="2331720"/>
            <a:ext cx="1417320" cy="804672"/>
          </a:xfrm>
          <a:prstGeom prst="rect">
            <a:avLst/>
          </a:prstGeom>
          <a:solidFill>
            <a:srgbClr val="A8024F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3082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2752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Role-Based Dashboards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53070" y="3337560"/>
            <a:ext cx="2228045" cy="804672"/>
          </a:xfrm>
          <a:prstGeom prst="rect">
            <a:avLst/>
          </a:prstGeom>
          <a:solidFill>
            <a:srgbClr val="A802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58432" y="33832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3082"/>
                </a:solidFill>
              </a:rPr>
              <a:t>JWT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92240" y="36804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Secured Auth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Clean Architecture with role-based access control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6949440" cy="594360"/>
          </a:xfrm>
          <a:prstGeom prst="rect">
            <a:avLst/>
          </a:prstGeom>
          <a:solidFill>
            <a:srgbClr val="FE308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042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307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Angular 17 SPA  •  Tailwind CSS  •  Role-based Dashboards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27432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691640"/>
            <a:ext cx="6949440" cy="594360"/>
          </a:xfrm>
          <a:prstGeom prst="rect">
            <a:avLst/>
          </a:prstGeom>
          <a:solidFill>
            <a:srgbClr val="A8024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1728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19933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ASP.NET Core 8  •  JWT Auth  •  Global Exception Handling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34840" y="2286000"/>
            <a:ext cx="27432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2377440"/>
            <a:ext cx="6949440" cy="594360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8016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6791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Services  •  DTOs  •  Business Logic  •  AutoMapper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34840" y="2971800"/>
            <a:ext cx="27432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3063240"/>
            <a:ext cx="6949440" cy="594360"/>
          </a:xfrm>
          <a:prstGeom prst="rect">
            <a:avLst/>
          </a:prstGeom>
          <a:solidFill>
            <a:srgbClr val="4B002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80160" y="3099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33649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EF Core  •  Repositories  •  MailKit  •  QuestPDF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34840" y="3657600"/>
            <a:ext cx="27432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3749040"/>
            <a:ext cx="6949440" cy="594360"/>
          </a:xfrm>
          <a:prstGeom prst="rect">
            <a:avLst/>
          </a:prstGeom>
          <a:solidFill>
            <a:srgbClr val="1A001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8016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40507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SQL Server  •  13 Core Entities  •  Migrations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960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13F"/>
                </a:solidFill>
              </a:rPr>
              <a:t>Roles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83880" y="1261872"/>
            <a:ext cx="868680" cy="457200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83880" y="1261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83880" y="192024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1920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5013F"/>
                </a:solidFill>
              </a:rPr>
              <a:t>Customer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83880" y="2578608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83880" y="2578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5013F"/>
                </a:solidFill>
              </a:rPr>
              <a:t>Agent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83880" y="3236976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83880" y="32369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5013F"/>
                </a:solidFill>
              </a:rPr>
              <a:t>Claims Officer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8 integrated modules covering the complete insurance lifecycle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1993392" cy="6400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243584"/>
            <a:ext cx="475488" cy="475488"/>
          </a:xfrm>
          <a:prstGeom prst="ellipse">
            <a:avLst/>
          </a:prstGeom>
          <a:solidFill>
            <a:srgbClr val="FCE4E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6" y="1338682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243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Authentication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32688" y="15361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JWT · CAPTCHA · RBAC · Reset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450592" y="1078992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50592" y="1078992"/>
            <a:ext cx="199339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2560320" y="1243584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418" y="1338682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08960" y="1243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Plan Management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108960" y="15361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Admin creates &amp; configures plans, customers view and buy them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626864" y="1078992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26864" y="1078992"/>
            <a:ext cx="199339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4736592" y="1243584"/>
            <a:ext cx="475488" cy="47548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690" y="1338682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85232" y="1243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Policy Management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285232" y="15361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4-step purchase wizard · Draft save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6803136" y="1078992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03136" y="1078992"/>
            <a:ext cx="199339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2"/>
          <p:cNvSpPr/>
          <p:nvPr/>
        </p:nvSpPr>
        <p:spPr>
          <a:xfrm>
            <a:off x="6912864" y="1243584"/>
            <a:ext cx="475488" cy="475488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962" y="1338682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61504" y="1243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Payment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7461504" y="15361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Premium tracking · QuestPDF invoice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274320" y="2798064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74320" y="2798064"/>
            <a:ext cx="1993392" cy="64008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33" name="Shape 27"/>
          <p:cNvSpPr/>
          <p:nvPr/>
        </p:nvSpPr>
        <p:spPr>
          <a:xfrm>
            <a:off x="384048" y="2962656"/>
            <a:ext cx="475488" cy="475488"/>
          </a:xfrm>
          <a:prstGeom prst="ellipse">
            <a:avLst/>
          </a:prstGeom>
          <a:solidFill>
            <a:srgbClr val="FFF0F5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6" y="3057754"/>
            <a:ext cx="285293" cy="28529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2688" y="2962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Claims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32688" y="32552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Death &amp; maturity · Officer review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2450592" y="2798064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2450592" y="2798064"/>
            <a:ext cx="199339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2"/>
          <p:cNvSpPr/>
          <p:nvPr/>
        </p:nvSpPr>
        <p:spPr>
          <a:xfrm>
            <a:off x="2560320" y="2962656"/>
            <a:ext cx="475488" cy="475488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5418" y="3057754"/>
            <a:ext cx="285293" cy="28529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108960" y="2962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3108960" y="32552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In-app alerts and mail service</a:t>
            </a:r>
            <a:endParaRPr lang="en-US" sz="750" dirty="0"/>
          </a:p>
        </p:txBody>
      </p:sp>
      <p:sp>
        <p:nvSpPr>
          <p:cNvPr id="43" name="Shape 35"/>
          <p:cNvSpPr/>
          <p:nvPr/>
        </p:nvSpPr>
        <p:spPr>
          <a:xfrm>
            <a:off x="4626864" y="2798064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626864" y="2798064"/>
            <a:ext cx="1993392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Shape 37"/>
          <p:cNvSpPr/>
          <p:nvPr/>
        </p:nvSpPr>
        <p:spPr>
          <a:xfrm>
            <a:off x="4736592" y="2962656"/>
            <a:ext cx="475488" cy="475488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1690" y="3057754"/>
            <a:ext cx="285293" cy="285293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85232" y="2962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Background Services</a:t>
            </a:r>
            <a:endParaRPr lang="en-US" sz="950" dirty="0"/>
          </a:p>
        </p:txBody>
      </p:sp>
      <p:sp>
        <p:nvSpPr>
          <p:cNvPr id="48" name="Text 39"/>
          <p:cNvSpPr/>
          <p:nvPr/>
        </p:nvSpPr>
        <p:spPr>
          <a:xfrm>
            <a:off x="5285232" y="32552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Auto lapse · Maturity processing</a:t>
            </a:r>
            <a:endParaRPr lang="en-US" sz="750" dirty="0"/>
          </a:p>
        </p:txBody>
      </p:sp>
      <p:sp>
        <p:nvSpPr>
          <p:cNvPr id="49" name="Shape 40"/>
          <p:cNvSpPr/>
          <p:nvPr/>
        </p:nvSpPr>
        <p:spPr>
          <a:xfrm>
            <a:off x="6803136" y="2798064"/>
            <a:ext cx="199339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803136" y="2798064"/>
            <a:ext cx="1993392" cy="6400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51" name="Shape 42"/>
          <p:cNvSpPr/>
          <p:nvPr/>
        </p:nvSpPr>
        <p:spPr>
          <a:xfrm>
            <a:off x="6912864" y="2962656"/>
            <a:ext cx="475488" cy="475488"/>
          </a:xfrm>
          <a:prstGeom prst="ellipse">
            <a:avLst/>
          </a:prstGeom>
          <a:solidFill>
            <a:srgbClr val="FCE4EE"/>
          </a:solidFill>
          <a:ln/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7962" y="3057754"/>
            <a:ext cx="285293" cy="285293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461504" y="29626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010"/>
                </a:solidFill>
              </a:rPr>
              <a:t>Dashboard</a:t>
            </a:r>
            <a:endParaRPr lang="en-US" sz="950" dirty="0"/>
          </a:p>
        </p:txBody>
      </p:sp>
      <p:sp>
        <p:nvSpPr>
          <p:cNvPr id="54" name="Text 44"/>
          <p:cNvSpPr/>
          <p:nvPr/>
        </p:nvSpPr>
        <p:spPr>
          <a:xfrm>
            <a:off x="7461504" y="32552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Charts · Stats · Role-based views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Authentication Module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Secure multi-role access with JWT and CAPTCHA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4023360" cy="548640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 / Login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289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BCrypt password hashing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3082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00784"/>
            <a:ext cx="4023360" cy="548640"/>
          </a:xfrm>
          <a:prstGeom prst="rect">
            <a:avLst/>
          </a:prstGeom>
          <a:solidFill>
            <a:srgbClr val="A8024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CAPTCHA Verify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6-char random code challenge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2231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3082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4023360" cy="548640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JWT Issued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642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2-hour token · role claims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907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3082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54096"/>
            <a:ext cx="4023360" cy="548640"/>
          </a:xfrm>
          <a:prstGeom prst="rect">
            <a:avLst/>
          </a:prstGeom>
          <a:solidFill>
            <a:srgbClr val="A8024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RBAC Enforced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319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Admin · Customer · Agent · Officer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3584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E3082"/>
                </a:solidFill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730752"/>
            <a:ext cx="4023360" cy="548640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Password Reset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995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C8DC"/>
                </a:solidFill>
              </a:rPr>
              <a:t>expiry validation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013F"/>
                </a:solidFill>
              </a:rPr>
              <a:t>Role Permissions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6187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261872"/>
            <a:ext cx="64008" cy="777240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5013F"/>
                </a:solidFill>
              </a:rPr>
              <a:t>Admin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</a:rPr>
              <a:t>Manage plans  ·  View all data  ·  Assign agents ·  Assign claims officers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157984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157984"/>
            <a:ext cx="64008" cy="777240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194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5013F"/>
                </a:solidFill>
              </a:rPr>
              <a:t>Customer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Buy policies  ·  File claims  ·  Apply loans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3054096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054096"/>
            <a:ext cx="64008" cy="777240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5013F"/>
                </a:solidFill>
              </a:rPr>
              <a:t>Agent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Approve policies  ·  Earn commission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950208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50208"/>
            <a:ext cx="64008" cy="777240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986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5013F"/>
                </a:solidFill>
              </a:rPr>
              <a:t>Claims Officer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42611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Verify claims  ·  Settle/Reject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Policy Purchase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Customer journey from plan exploration to active policy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2697480" cy="4572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69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3082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115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 Plans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Browse active plans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with benefit badges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0" y="161848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82112" y="1024128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024128"/>
            <a:ext cx="2697480" cy="4572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069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3082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1115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Configure Policy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Term years, frequency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coverage amount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25312" y="161848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9904" y="1024128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24128"/>
            <a:ext cx="2697480" cy="4572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21" name="Text 19"/>
          <p:cNvSpPr/>
          <p:nvPr/>
        </p:nvSpPr>
        <p:spPr>
          <a:xfrm>
            <a:off x="6181344" y="1069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3082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56832" y="1115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Member Details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27064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Add insured members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health &amp; personal info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807208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07208"/>
            <a:ext cx="2697480" cy="4572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3082"/>
                </a:solidFill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" y="2898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 Preview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3741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Dynamic calculation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instant estimate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17520" y="340156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82112" y="2807208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2807208"/>
            <a:ext cx="2697480" cy="4572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3082"/>
                </a:solidFill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49040" y="2898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Add Nominees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3741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Share % allocation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beneficiary details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25312" y="340156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89904" y="2807208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2807208"/>
            <a:ext cx="2697480" cy="4572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3082"/>
                </a:solidFill>
              </a:rPr>
              <a:t>06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56832" y="2898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 &amp; Approve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27064" y="33741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Agent reviews &amp;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activates policy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462272"/>
            <a:ext cx="8595360" cy="32918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4622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💡  Draft Save System: Customers can save progress at any step and resume later — preventing data loss during long applications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Claims Management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End-to-end claim lifecycle from submission to settlement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4754880" cy="566928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42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 a Claim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2893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F"/>
                </a:solidFill>
              </a:rPr>
              <a:t>Customer initiates claim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4754880" cy="566928"/>
          </a:xfrm>
          <a:prstGeom prst="rect">
            <a:avLst/>
          </a:prstGeom>
          <a:solidFill>
            <a:srgbClr val="A8024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 Documents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984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F"/>
                </a:solidFill>
              </a:rPr>
              <a:t>Death cert, medical docs, evidence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22677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4754880" cy="566928"/>
          </a:xfrm>
          <a:prstGeom prst="rect">
            <a:avLst/>
          </a:prstGeom>
          <a:solidFill>
            <a:srgbClr val="FE308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4323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 Submitted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679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F"/>
                </a:solidFill>
              </a:rPr>
              <a:t>Status: Submitted → notification sent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0" y="29626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754880" cy="566928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1272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Claims Officer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3741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F"/>
                </a:solidFill>
              </a:rPr>
              <a:t>Verify policy + documents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68880" y="36576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3082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803904"/>
            <a:ext cx="4754880" cy="566928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8221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Settlement Decision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0EF"/>
                </a:solidFill>
              </a:rPr>
              <a:t>Settled or Rejected with remarks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9496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013F"/>
                </a:solidFill>
              </a:rPr>
              <a:t>Claim Outcomes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1261872"/>
            <a:ext cx="3474720" cy="141732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94960" y="1261872"/>
            <a:ext cx="347472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SETTLED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F46"/>
                </a:solidFill>
              </a:rPr>
              <a:t>•  Settlement amount disbursed to nominee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21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F46"/>
                </a:solidFill>
              </a:rPr>
              <a:t>•  Policy status → Closed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32120" y="2148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F46"/>
                </a:solidFill>
              </a:rPr>
              <a:t>•  Outstanding loan deducted from payout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32120" y="2377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F46"/>
                </a:solidFill>
              </a:rPr>
              <a:t>•  Bonus included in final amount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94960" y="2834640"/>
            <a:ext cx="3474720" cy="109728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2834640"/>
            <a:ext cx="34747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REJECTED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3264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1D1D"/>
                </a:solidFill>
              </a:rPr>
              <a:t>•  Rejection remarks provided to customer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32120" y="3493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1D1D"/>
                </a:solidFill>
              </a:rPr>
              <a:t>•  Policy remains Active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32120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1D1D"/>
                </a:solidFill>
              </a:rPr>
              <a:t>•  Customer notified via app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94960" y="4069080"/>
            <a:ext cx="1664208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40680" y="41148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13F"/>
                </a:solidFill>
              </a:rPr>
              <a:t>☠️  Death Claim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4352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Filed by customer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05472" y="4069080"/>
            <a:ext cx="1664208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251192" y="41148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🎯  Maturity Claim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51192" y="4352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Auto-processed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Payment &amp; Notification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Automated premium management with real-time alerts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💳  Payment Module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Premium Validation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Blocks payment if not yet due (30-day rule)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3840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48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Lapse Check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22311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Blocked on Lapsed policies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Extra Installments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Advance NextDueDate with bulk payment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840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35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Invoice PDF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QuestPDF generated, stored in wwwroot/invoices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Payment History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37124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Full transaction log per policy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3840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Commission Trigger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Agent earns on first payment only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🔔  Notification System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8032" y="1536192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4828032" y="1536192"/>
            <a:ext cx="4572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1554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Premium Reminder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1737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7 days before due date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2029968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4828032" y="2029968"/>
            <a:ext cx="45720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2048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Policy Approved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231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Agent approves application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28032" y="2523744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4828032" y="2523744"/>
            <a:ext cx="45720" cy="402336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2542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Claim Update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724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Status change notifications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28032" y="3017520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4828032" y="3017520"/>
            <a:ext cx="45720" cy="40233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3035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Loan Approved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Disbursement confirmation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3511296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8" name="Shape 46"/>
          <p:cNvSpPr/>
          <p:nvPr/>
        </p:nvSpPr>
        <p:spPr>
          <a:xfrm>
            <a:off x="4828032" y="3511296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Maturity Alert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7124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Auto-processed settlement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28032" y="4005072"/>
            <a:ext cx="38404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2" name="Shape 50"/>
          <p:cNvSpPr/>
          <p:nvPr/>
        </p:nvSpPr>
        <p:spPr>
          <a:xfrm>
            <a:off x="4828032" y="4005072"/>
            <a:ext cx="45720" cy="4023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4956048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010"/>
                </a:solidFill>
              </a:rPr>
              <a:t>Lapse Warning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206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Grace period expiry alert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Dynamic Premium Calculation Formula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9144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87552"/>
            <a:ext cx="8595360" cy="749808"/>
          </a:xfrm>
          <a:prstGeom prst="rect">
            <a:avLst/>
          </a:prstGeom>
          <a:solidFill>
            <a:srgbClr val="75013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87552"/>
            <a:ext cx="73152" cy="749808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E3082"/>
                </a:solidFill>
              </a:rPr>
              <a:t>Formula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280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DC"/>
                </a:solidFill>
              </a:rPr>
              <a:t>Premium  =  </a:t>
            </a:r>
            <a:r>
              <a:rPr lang="en-US" sz="1100" b="1" dirty="0">
                <a:solidFill>
                  <a:srgbClr val="FFFFFF"/>
                </a:solidFill>
              </a:rPr>
              <a:t>(Coverage ÷ 1000)</a:t>
            </a:r>
            <a:r>
              <a:rPr lang="en-US" sz="1100" dirty="0">
                <a:solidFill>
                  <a:srgbClr val="FFC8DC"/>
                </a:solidFill>
              </a:rPr>
              <a:t>  ×  BaseRate  ×  </a:t>
            </a:r>
            <a:r>
              <a:rPr lang="en-US" sz="1100" b="1" dirty="0">
                <a:solidFill>
                  <a:srgbClr val="FE3082"/>
                </a:solidFill>
              </a:rPr>
              <a:t>AgeFactor</a:t>
            </a:r>
            <a:r>
              <a:rPr lang="en-US" sz="1100" dirty="0">
                <a:solidFill>
                  <a:srgbClr val="FFC8DC"/>
                </a:solidFill>
              </a:rPr>
              <a:t>  ×  </a:t>
            </a:r>
            <a:r>
              <a:rPr lang="en-US" sz="1100" b="1" dirty="0">
                <a:solidFill>
                  <a:srgbClr val="F59E0B"/>
                </a:solidFill>
              </a:rPr>
              <a:t>SmokerFactor</a:t>
            </a:r>
            <a:r>
              <a:rPr lang="en-US" sz="1100" dirty="0">
                <a:solidFill>
                  <a:srgbClr val="FFC8DC"/>
                </a:solidFill>
              </a:rPr>
              <a:t>  ×  </a:t>
            </a:r>
            <a:r>
              <a:rPr lang="en-US" sz="1100" b="1" dirty="0">
                <a:solidFill>
                  <a:srgbClr val="93C5FD"/>
                </a:solidFill>
              </a:rPr>
              <a:t>GenderFactor</a:t>
            </a:r>
            <a:r>
              <a:rPr lang="en-US" sz="1100" dirty="0">
                <a:solidFill>
                  <a:srgbClr val="FFC8DC"/>
                </a:solidFill>
              </a:rPr>
              <a:t>  ×  </a:t>
            </a:r>
            <a:r>
              <a:rPr lang="en-US" sz="1100" b="1" dirty="0">
                <a:solidFill>
                  <a:srgbClr val="6EE7B7"/>
                </a:solidFill>
              </a:rPr>
              <a:t>TermFactor</a:t>
            </a:r>
            <a:r>
              <a:rPr lang="en-US" sz="1100" dirty="0">
                <a:solidFill>
                  <a:srgbClr val="FFC8DC"/>
                </a:solidFill>
              </a:rPr>
              <a:t>  ×  </a:t>
            </a:r>
            <a:r>
              <a:rPr lang="en-US" sz="1100" b="1" dirty="0">
                <a:solidFill>
                  <a:srgbClr val="FDE68A"/>
                </a:solidFill>
              </a:rPr>
              <a:t>1.18</a:t>
            </a:r>
            <a:r>
              <a:rPr lang="en-US" sz="900" dirty="0">
                <a:solidFill>
                  <a:srgbClr val="FFC8DC"/>
                </a:solidFill>
              </a:rPr>
              <a:t> (GST)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87452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874520"/>
            <a:ext cx="2697480" cy="54864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2002536"/>
            <a:ext cx="384048" cy="384048"/>
          </a:xfrm>
          <a:prstGeom prst="ellipse">
            <a:avLst/>
          </a:prstGeom>
          <a:solidFill>
            <a:srgbClr val="75013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756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19659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5013F"/>
                </a:solidFill>
              </a:rPr>
              <a:t>Coverage / 1000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41248" y="22037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Base Unit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84048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0010"/>
                </a:solidFill>
              </a:rPr>
              <a:t>Premium is calculated per ₹1,000 of coverage amount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20624" y="275234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5013F"/>
                </a:solidFill>
              </a:rPr>
              <a:t>₹10,00,000 coverage → 1000 units</a:t>
            </a:r>
            <a:endParaRPr lang="en-US" sz="680" dirty="0"/>
          </a:p>
        </p:txBody>
      </p:sp>
      <p:sp>
        <p:nvSpPr>
          <p:cNvPr id="19" name="Shape 15"/>
          <p:cNvSpPr/>
          <p:nvPr/>
        </p:nvSpPr>
        <p:spPr>
          <a:xfrm>
            <a:off x="3154680" y="187452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54680" y="1874520"/>
            <a:ext cx="2697480" cy="54864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1" name="Shape 17"/>
          <p:cNvSpPr/>
          <p:nvPr/>
        </p:nvSpPr>
        <p:spPr>
          <a:xfrm>
            <a:off x="3264408" y="2002536"/>
            <a:ext cx="384048" cy="384048"/>
          </a:xfrm>
          <a:prstGeom prst="ellipse">
            <a:avLst/>
          </a:prstGeom>
          <a:solidFill>
            <a:srgbClr val="92400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07568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21608" y="19659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</a:rPr>
              <a:t>Age Factor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721608" y="22037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Risk by Age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264408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0010"/>
                </a:solidFill>
              </a:rPr>
              <a:t>Older applicants carry higher mortality risk → higher factor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3300984" y="275234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92400E"/>
                </a:solidFill>
              </a:rPr>
              <a:t>Age 18-25 → 1.0    Age 36-45 → 1.3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92400E"/>
                </a:solidFill>
              </a:rPr>
              <a:t>Age 26-35 → 1.1    Age 46-55 → 1.6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92400E"/>
                </a:solidFill>
              </a:rPr>
              <a:t>Age 56+  → 2.0</a:t>
            </a:r>
            <a:endParaRPr lang="en-US" sz="680" dirty="0"/>
          </a:p>
        </p:txBody>
      </p:sp>
      <p:sp>
        <p:nvSpPr>
          <p:cNvPr id="28" name="Shape 23"/>
          <p:cNvSpPr/>
          <p:nvPr/>
        </p:nvSpPr>
        <p:spPr>
          <a:xfrm>
            <a:off x="6035040" y="187452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35040" y="1874520"/>
            <a:ext cx="2697480" cy="54864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0" name="Shape 25"/>
          <p:cNvSpPr/>
          <p:nvPr/>
        </p:nvSpPr>
        <p:spPr>
          <a:xfrm>
            <a:off x="6144768" y="2002536"/>
            <a:ext cx="384048" cy="384048"/>
          </a:xfrm>
          <a:prstGeom prst="ellipse">
            <a:avLst/>
          </a:prstGeom>
          <a:solidFill>
            <a:srgbClr val="7F1D1D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7568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01968" y="19659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1D1D"/>
                </a:solidFill>
              </a:rPr>
              <a:t>Smoker Factor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601968" y="22037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Lifestyle Risk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6144768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0010"/>
                </a:solidFill>
              </a:rPr>
              <a:t>Smoking significantly increases health risk and mortality rate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6181344" y="275234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F1D1D"/>
                </a:solidFill>
              </a:rPr>
              <a:t>Non-Smoker → 1.0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7F1D1D"/>
                </a:solidFill>
              </a:rPr>
              <a:t>Smoker       → 1.5  (+50% premium)</a:t>
            </a:r>
            <a:endParaRPr lang="en-US" sz="680" dirty="0"/>
          </a:p>
        </p:txBody>
      </p:sp>
      <p:sp>
        <p:nvSpPr>
          <p:cNvPr id="37" name="Shape 31"/>
          <p:cNvSpPr/>
          <p:nvPr/>
        </p:nvSpPr>
        <p:spPr>
          <a:xfrm>
            <a:off x="274320" y="329184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274320" y="329184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Shape 33"/>
          <p:cNvSpPr/>
          <p:nvPr/>
        </p:nvSpPr>
        <p:spPr>
          <a:xfrm>
            <a:off x="384048" y="3419856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93008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41248" y="3383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Gender Factor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841248" y="36210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Statistical Risk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384048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0010"/>
                </a:solidFill>
              </a:rPr>
              <a:t>Actuarial tables show different mortality rates by gender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420624" y="416966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E3A5F"/>
                </a:solidFill>
              </a:rPr>
              <a:t>Female → 0.95  (lower risk)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1E3A5F"/>
                </a:solidFill>
              </a:rPr>
              <a:t>Male   → 1.0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1E3A5F"/>
                </a:solidFill>
              </a:rPr>
              <a:t>Other  → 1.0</a:t>
            </a:r>
            <a:endParaRPr lang="en-US" sz="680" dirty="0"/>
          </a:p>
        </p:txBody>
      </p:sp>
      <p:sp>
        <p:nvSpPr>
          <p:cNvPr id="46" name="Shape 39"/>
          <p:cNvSpPr/>
          <p:nvPr/>
        </p:nvSpPr>
        <p:spPr>
          <a:xfrm>
            <a:off x="3154680" y="329184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3154680" y="3291840"/>
            <a:ext cx="2697480" cy="5486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8" name="Shape 41"/>
          <p:cNvSpPr/>
          <p:nvPr/>
        </p:nvSpPr>
        <p:spPr>
          <a:xfrm>
            <a:off x="3264408" y="3419856"/>
            <a:ext cx="384048" cy="384048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493008"/>
            <a:ext cx="237744" cy="23774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3721608" y="3383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4E3B"/>
                </a:solidFill>
              </a:rPr>
              <a:t>Term Factor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3721608" y="36210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Duration Risk</a:t>
            </a:r>
            <a:endParaRPr lang="en-US" sz="700" dirty="0"/>
          </a:p>
        </p:txBody>
      </p:sp>
      <p:sp>
        <p:nvSpPr>
          <p:cNvPr id="52" name="Text 44"/>
          <p:cNvSpPr/>
          <p:nvPr/>
        </p:nvSpPr>
        <p:spPr>
          <a:xfrm>
            <a:off x="3264408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0010"/>
                </a:solidFill>
              </a:rPr>
              <a:t>Longer policy term = higher cumulative risk exposure</a:t>
            </a:r>
            <a:endParaRPr lang="en-US" sz="750" dirty="0"/>
          </a:p>
        </p:txBody>
      </p:sp>
      <p:sp>
        <p:nvSpPr>
          <p:cNvPr id="54" name="Text 46"/>
          <p:cNvSpPr/>
          <p:nvPr/>
        </p:nvSpPr>
        <p:spPr>
          <a:xfrm>
            <a:off x="3300984" y="416966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64E3B"/>
                </a:solidFill>
              </a:rPr>
              <a:t>≤10 yrs → 0.9    21-30 yrs → 1.1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064E3B"/>
                </a:solidFill>
              </a:rPr>
              <a:t>11-20 yrs → 1.0   31+ yrs  → 1.2</a:t>
            </a:r>
            <a:endParaRPr lang="en-US" sz="680" dirty="0"/>
          </a:p>
        </p:txBody>
      </p:sp>
      <p:sp>
        <p:nvSpPr>
          <p:cNvPr id="55" name="Shape 47"/>
          <p:cNvSpPr/>
          <p:nvPr/>
        </p:nvSpPr>
        <p:spPr>
          <a:xfrm>
            <a:off x="6035040" y="329184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6035040" y="3291840"/>
            <a:ext cx="2697480" cy="54864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57" name="Shape 49"/>
          <p:cNvSpPr/>
          <p:nvPr/>
        </p:nvSpPr>
        <p:spPr>
          <a:xfrm>
            <a:off x="6144768" y="3419856"/>
            <a:ext cx="384048" cy="384048"/>
          </a:xfrm>
          <a:prstGeom prst="ellipse">
            <a:avLst/>
          </a:prstGeom>
          <a:solidFill>
            <a:srgbClr val="78350F"/>
          </a:solidFill>
          <a:ln/>
        </p:spPr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93008"/>
            <a:ext cx="237744" cy="237744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6601968" y="3383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8350F"/>
                </a:solidFill>
              </a:rPr>
              <a:t>GST × 1.18</a:t>
            </a:r>
            <a:endParaRPr lang="en-US" sz="950" dirty="0"/>
          </a:p>
        </p:txBody>
      </p:sp>
      <p:sp>
        <p:nvSpPr>
          <p:cNvPr id="60" name="Text 51"/>
          <p:cNvSpPr/>
          <p:nvPr/>
        </p:nvSpPr>
        <p:spPr>
          <a:xfrm>
            <a:off x="6601968" y="36210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Tax Component</a:t>
            </a:r>
            <a:endParaRPr lang="en-US" sz="700" dirty="0"/>
          </a:p>
        </p:txBody>
      </p:sp>
      <p:sp>
        <p:nvSpPr>
          <p:cNvPr id="61" name="Text 52"/>
          <p:cNvSpPr/>
          <p:nvPr/>
        </p:nvSpPr>
        <p:spPr>
          <a:xfrm>
            <a:off x="6144768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0010"/>
                </a:solidFill>
              </a:rPr>
              <a:t>18% Goods &amp; Services Tax applied on the calculated premium</a:t>
            </a:r>
            <a:endParaRPr lang="en-US" sz="750" dirty="0"/>
          </a:p>
        </p:txBody>
      </p:sp>
      <p:sp>
        <p:nvSpPr>
          <p:cNvPr id="63" name="Text 54"/>
          <p:cNvSpPr/>
          <p:nvPr/>
        </p:nvSpPr>
        <p:spPr>
          <a:xfrm>
            <a:off x="6181344" y="416966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8350F"/>
                </a:solidFill>
              </a:rPr>
              <a:t>Base Premium ₹1,000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78350F"/>
                </a:solidFill>
              </a:rPr>
              <a:t>+ 18% GST   ₹180</a:t>
            </a:r>
            <a:endParaRPr lang="en-US" sz="680" dirty="0"/>
          </a:p>
          <a:p>
            <a:pPr marL="0" indent="0">
              <a:buNone/>
            </a:pPr>
            <a:r>
              <a:rPr lang="en-US" sz="680" b="1" dirty="0">
                <a:solidFill>
                  <a:srgbClr val="78350F"/>
                </a:solidFill>
              </a:rPr>
              <a:t>= Final       ₹1,180</a:t>
            </a:r>
            <a:endParaRPr lang="en-US" sz="680" dirty="0"/>
          </a:p>
        </p:txBody>
      </p:sp>
      <p:sp>
        <p:nvSpPr>
          <p:cNvPr id="64" name="Shape 5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0010"/>
          </a:solidFill>
          <a:ln/>
        </p:spPr>
      </p:sp>
      <p:sp>
        <p:nvSpPr>
          <p:cNvPr id="65" name="Text 56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3082"/>
                </a:solidFill>
              </a:rPr>
              <a:t>Example:  </a:t>
            </a:r>
            <a:r>
              <a:rPr lang="en-US" sz="850" dirty="0">
                <a:solidFill>
                  <a:srgbClr val="FFC8DC"/>
                </a:solidFill>
              </a:rPr>
              <a:t>Coverage ₹10L  |  Age 35  |  Male  |  Non-Smoker  |  20yr Term  |  Base Rate 2%    →    </a:t>
            </a:r>
            <a:r>
              <a:rPr lang="en-US" sz="850" dirty="0">
                <a:solidFill>
                  <a:srgbClr val="E5E7EB"/>
                </a:solidFill>
              </a:rPr>
              <a:t>(1000 × 2) × 1.1 × 1.0 × 1.0 × 1.0 × 1.18</a:t>
            </a:r>
            <a:r>
              <a:rPr lang="en-US" sz="950" b="1" dirty="0">
                <a:solidFill>
                  <a:srgbClr val="FE3082"/>
                </a:solidFill>
              </a:rPr>
              <a:t>  =  ₹2,596 / installment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Advanced Plan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Plan types with specialized financial instruments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20624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338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1161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Coverage Increasing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5270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Coverage grows annually by a fixed % (e.g. 5%/yr). A ₹2,00,000 policy becomes ₹3,42,068 after 11 years.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3931920" cy="2286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</a:rPr>
              <a:t>Formula: Coverage × (1 + rate)^years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9160" y="1024128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24128"/>
            <a:ext cx="4206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1338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0" y="1161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Bonus &amp; Profits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5270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Annual bonus (% of SA) + terminal bonus at maturity. Increases total claim/maturity payout.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3931920" cy="2286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Formula: SA + (SA × rate × years) + terminal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807208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07208"/>
            <a:ext cx="420624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9169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2944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</a:rPr>
              <a:t>Policy Loan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3101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Loan against surrender value (30% of premiums paid). Max loan = surrender × plan %. Interest-first repayment.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393192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369A1"/>
                </a:solidFill>
              </a:rPr>
              <a:t>Formula: Surrender × MaxLoan% = eligible amount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9160" y="2807208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07208"/>
            <a:ext cx="420624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169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♾️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03520" y="2944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Whole Life Coverage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3101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CoverageUntilAge=100. No term selection needed. EndDate calculated from member DOB + 100 years.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4069080"/>
            <a:ext cx="3931920" cy="2286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Formula: EndDate = DOB + CoverageUntilAge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/>
          <p:cNvSpPr/>
          <p:nvPr/>
        </p:nvSpPr>
        <p:spPr>
          <a:xfrm>
            <a:off x="3218688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Unique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743200" cy="91440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Dynamic Premium Calculation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121408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9979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Risk factors: age, gender, smoking 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" y="2651760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5191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Coverage amount &amp; term multipliers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" y="3182112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035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GST inclusion (18%) + agent commission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3712464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5890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Real-time estimate before purchase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18688" y="1005840"/>
            <a:ext cx="2743200" cy="914400"/>
          </a:xfrm>
          <a:prstGeom prst="rect">
            <a:avLst/>
          </a:prstGeom>
          <a:solidFill>
            <a:srgbClr val="A8024F"/>
          </a:solidFill>
          <a:ln/>
        </p:spPr>
      </p:sp>
      <p:sp>
        <p:nvSpPr>
          <p:cNvPr id="22" name="Text 20"/>
          <p:cNvSpPr/>
          <p:nvPr/>
        </p:nvSpPr>
        <p:spPr>
          <a:xfrm>
            <a:off x="3831336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 Draft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1276" y="2203704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0665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Save incomplete applications at any step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1276" y="2734056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5968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Resume from exactly where you left off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51276" y="3264408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1272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No data loss during long processes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1276" y="3794760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Multiple session support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1060704"/>
            <a:ext cx="2743200" cy="364908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1005840"/>
            <a:ext cx="2743200" cy="9144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4" name="Text 32"/>
          <p:cNvSpPr/>
          <p:nvPr/>
        </p:nvSpPr>
        <p:spPr>
          <a:xfrm>
            <a:off x="6991027" y="1193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Automated Monitoring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2212848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0665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Daily background service checks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27648" y="2743200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528" y="25968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Due Soon → Grace Period → Lapsed auto-update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27648" y="3273552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31272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7-day advance premium reminders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27648" y="3803904"/>
            <a:ext cx="118872" cy="118872"/>
          </a:xfrm>
          <a:prstGeom prst="ellipse">
            <a:avLst/>
          </a:prstGeom>
          <a:solidFill>
            <a:srgbClr val="FE3082"/>
          </a:solidFill>
          <a:ln/>
        </p:spPr>
      </p:sp>
      <p:sp>
        <p:nvSpPr>
          <p:cNvPr id="42" name="Text 40"/>
          <p:cNvSpPr/>
          <p:nvPr/>
        </p:nvSpPr>
        <p:spPr>
          <a:xfrm>
            <a:off x="6510528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0010"/>
                </a:solidFill>
              </a:rPr>
              <a:t>Auto maturity processing with bonus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Background Services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024F"/>
                </a:solidFill>
              </a:rPr>
              <a:t>Three automated daily services managing policy health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06216"/>
            <a:ext cx="2743200" cy="32914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74320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241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 Reminder 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3716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E0EF"/>
                </a:solidFill>
              </a:rPr>
              <a:t>⏱ Daily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6616" y="1837944"/>
            <a:ext cx="256032" cy="25603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1719072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Finds all Active policies with NextDueDate within 7 days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" y="2496312"/>
            <a:ext cx="256032" cy="25603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37744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Sends in-app notification to customer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6616" y="3154680"/>
            <a:ext cx="256032" cy="25603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3035808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Sends email reminder via MailKit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6616" y="3813048"/>
            <a:ext cx="256032" cy="25603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694176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Prevents missed premium payments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18688" y="1016612"/>
            <a:ext cx="2743200" cy="32914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1005840"/>
            <a:ext cx="274320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3328416" y="10241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Lapse Policy Service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28416" y="13716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E0EF"/>
                </a:solidFill>
              </a:rPr>
              <a:t>⏱ Daily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28416" y="1837944"/>
            <a:ext cx="256032" cy="25603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3328416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1719072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Finds Active policies where NextDueDate + GracePeriod &lt; today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28416" y="2496312"/>
            <a:ext cx="256032" cy="25603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3328416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237744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Updates policy Status → Lapsed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28416" y="3154680"/>
            <a:ext cx="256032" cy="25603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4" name="Text 32"/>
          <p:cNvSpPr/>
          <p:nvPr/>
        </p:nvSpPr>
        <p:spPr>
          <a:xfrm>
            <a:off x="3328416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3035808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Notifies customer of lapse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28416" y="3813048"/>
            <a:ext cx="256032" cy="25603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7" name="Text 35"/>
          <p:cNvSpPr/>
          <p:nvPr/>
        </p:nvSpPr>
        <p:spPr>
          <a:xfrm>
            <a:off x="3328416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3694176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Blocks further payments until reinstated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63056" y="1006216"/>
            <a:ext cx="2743200" cy="33018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63056" y="1005840"/>
            <a:ext cx="2743200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6272784" y="10241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Maturity Processing Service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72784" y="13716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E0EF"/>
                </a:solidFill>
              </a:rPr>
              <a:t>⏱ Daily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72784" y="1831932"/>
            <a:ext cx="256032" cy="25603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4" name="Text 42"/>
          <p:cNvSpPr/>
          <p:nvPr/>
        </p:nvSpPr>
        <p:spPr>
          <a:xfrm>
            <a:off x="6272784" y="18319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01968" y="1719072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Finds Active policies where EndDate &lt; today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72784" y="2490300"/>
            <a:ext cx="256032" cy="25603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7" name="Text 45"/>
          <p:cNvSpPr/>
          <p:nvPr/>
        </p:nvSpPr>
        <p:spPr>
          <a:xfrm>
            <a:off x="6272784" y="24903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01968" y="237744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HasMaturityBenefit=true → auto Settled claim with bonus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72784" y="3148668"/>
            <a:ext cx="256032" cy="25603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0" name="Text 48"/>
          <p:cNvSpPr/>
          <p:nvPr/>
        </p:nvSpPr>
        <p:spPr>
          <a:xfrm>
            <a:off x="6272784" y="31486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01968" y="3035808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HasMaturityBenefit=false → policy → Expired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72784" y="3807036"/>
            <a:ext cx="256032" cy="25603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3" name="Text 51"/>
          <p:cNvSpPr/>
          <p:nvPr/>
        </p:nvSpPr>
        <p:spPr>
          <a:xfrm>
            <a:off x="6272784" y="38070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01968" y="3694176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0010"/>
                </a:solidFill>
              </a:rPr>
              <a:t>Outstanding loan deducted from settlement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10896" y="4489704"/>
            <a:ext cx="4755882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" y="4510372"/>
            <a:ext cx="4573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C1D95"/>
                </a:solidFill>
              </a:rPr>
              <a:t>🔧  All services registered as AddHostedService&lt;T&gt; in Program.cs — run automatically on application startup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Database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Hartford Insurance Management System 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2011680" cy="64008"/>
          </a:xfrm>
          <a:prstGeom prst="rect">
            <a:avLst/>
          </a:prstGeom>
          <a:solidFill>
            <a:srgbClr val="75013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13F"/>
                </a:solidFill>
              </a:rPr>
              <a:t>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Id · Name · Email · Role · BCryptHash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450592" y="102412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24128"/>
            <a:ext cx="2011680" cy="64008"/>
          </a:xfrm>
          <a:prstGeom prst="rect">
            <a:avLst/>
          </a:prstGeom>
          <a:solidFill>
            <a:srgbClr val="A8024F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024F"/>
                </a:solidFill>
              </a:rPr>
              <a:t>Plan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42032" y="1408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PlanType · Rates · Limits · LoanConfig · Bonus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26864" y="102412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24128"/>
            <a:ext cx="2011680" cy="64008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3082"/>
                </a:solidFill>
              </a:rPr>
              <a:t>PolicyAssignment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8304" y="1408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PolicyNumber · Status · Dates · Premium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803136" y="102412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24128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PolicyMember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94576" y="1408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CoverageAmount · DOB · Smoker · Occupation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221284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212848"/>
            <a:ext cx="201168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369A1"/>
                </a:solidFill>
              </a:rPr>
              <a:t>PolicyNominee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5968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Name · Relationship · SharePercentage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450592" y="221284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50592" y="2212848"/>
            <a:ext cx="201168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2542032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Payment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42032" y="25968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Amount · Status · InvoiceNumber · Date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26864" y="221284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2212848"/>
            <a:ext cx="201168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InsuranceClaim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25968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ClaimType · Status · SettlementAmount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03136" y="221284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03136" y="2212848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94576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Document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94576" y="25968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Category · FilePath · UploadedAt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40156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401568"/>
            <a:ext cx="201168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Notification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37856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Type · Title · IsRead · UserId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50592" y="3401568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50592" y="3401568"/>
            <a:ext cx="201168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2542032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PolicyLoan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42032" y="37856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LoanAmount · OutstandingBalance · Status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50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82933" y="3078480"/>
            <a:ext cx="3657600" cy="3657600"/>
          </a:xfrm>
          <a:prstGeom prst="ellipse">
            <a:avLst/>
          </a:prstGeom>
          <a:solidFill>
            <a:srgbClr val="A8024F"/>
          </a:solidFill>
          <a:ln w="12700">
            <a:solidFill>
              <a:srgbClr val="A80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600200"/>
            <a:ext cx="3200400" cy="3200400"/>
          </a:xfrm>
          <a:prstGeom prst="ellipse">
            <a:avLst/>
          </a:prstGeom>
          <a:solidFill>
            <a:srgbClr val="A8024F"/>
          </a:solidFill>
          <a:ln w="12700">
            <a:solidFill>
              <a:srgbClr val="A80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34840"/>
            <a:ext cx="2926080" cy="708660"/>
          </a:xfrm>
          <a:prstGeom prst="rect">
            <a:avLst/>
          </a:prstGeom>
          <a:solidFill>
            <a:srgbClr val="FE3082"/>
          </a:solidFill>
          <a:ln/>
        </p:spPr>
      </p:sp>
      <p:sp>
        <p:nvSpPr>
          <p:cNvPr id="21" name="Text 19"/>
          <p:cNvSpPr/>
          <p:nvPr/>
        </p:nvSpPr>
        <p:spPr>
          <a:xfrm>
            <a:off x="492761" y="1653967"/>
            <a:ext cx="7144173" cy="239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I would like to express my sincere gratitude to </a:t>
            </a:r>
            <a:r>
              <a:rPr lang="en-US" sz="1600" b="1" dirty="0">
                <a:solidFill>
                  <a:schemeClr val="bg1"/>
                </a:solidFill>
              </a:rPr>
              <a:t>The Hartford </a:t>
            </a:r>
            <a:r>
              <a:rPr lang="en-US" sz="1600" dirty="0">
                <a:solidFill>
                  <a:schemeClr val="bg1"/>
                </a:solidFill>
              </a:rPr>
              <a:t>for providing this valuable opportunity to learn and grow. I would also like to thank </a:t>
            </a:r>
            <a:r>
              <a:rPr lang="en-US" sz="1600" b="1" dirty="0">
                <a:solidFill>
                  <a:schemeClr val="bg1"/>
                </a:solidFill>
              </a:rPr>
              <a:t>GUVI–HCL </a:t>
            </a:r>
            <a:r>
              <a:rPr lang="en-US" sz="1600" dirty="0">
                <a:solidFill>
                  <a:schemeClr val="bg1"/>
                </a:solidFill>
              </a:rPr>
              <a:t>for organizing and delivering the training program. My heartfelt thanks to our trainer, </a:t>
            </a:r>
            <a:r>
              <a:rPr lang="en-US" sz="1600" b="1" dirty="0">
                <a:solidFill>
                  <a:schemeClr val="bg1"/>
                </a:solidFill>
              </a:rPr>
              <a:t>Mr. Ranjan Bhatnagar</a:t>
            </a:r>
            <a:r>
              <a:rPr lang="en-US" sz="1600" dirty="0">
                <a:solidFill>
                  <a:schemeClr val="bg1"/>
                </a:solidFill>
              </a:rPr>
              <a:t>, for his guidance and insightful sessions throughout the training. I am also grateful to our leaders, </a:t>
            </a:r>
            <a:r>
              <a:rPr lang="en-US" sz="1600" b="1" dirty="0">
                <a:solidFill>
                  <a:schemeClr val="bg1"/>
                </a:solidFill>
              </a:rPr>
              <a:t>Mr. Surya </a:t>
            </a:r>
            <a:r>
              <a:rPr lang="en-US" sz="1600" b="1" dirty="0" err="1">
                <a:solidFill>
                  <a:schemeClr val="bg1"/>
                </a:solidFill>
              </a:rPr>
              <a:t>Thammiraju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and </a:t>
            </a:r>
            <a:r>
              <a:rPr lang="en-US" sz="1600" b="1" dirty="0">
                <a:solidFill>
                  <a:schemeClr val="bg1"/>
                </a:solidFill>
              </a:rPr>
              <a:t>Ms. Padmavati Rallapalli</a:t>
            </a:r>
            <a:r>
              <a:rPr lang="en-US" sz="1600" dirty="0">
                <a:solidFill>
                  <a:schemeClr val="bg1"/>
                </a:solidFill>
              </a:rPr>
              <a:t>, for their continuous support and encouragement. Special thanks to </a:t>
            </a:r>
            <a:r>
              <a:rPr lang="en-US" sz="1600" b="1" dirty="0">
                <a:solidFill>
                  <a:schemeClr val="bg1"/>
                </a:solidFill>
              </a:rPr>
              <a:t>Mr. Koti Rama Murthy Davuluri</a:t>
            </a:r>
            <a:r>
              <a:rPr lang="en-US" sz="1600" dirty="0">
                <a:solidFill>
                  <a:schemeClr val="bg1"/>
                </a:solidFill>
              </a:rPr>
              <a:t>, for his coordination and assistance during the entire program. Thank you all for your support and guidance.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4E017-DA07-895C-0FAA-7D355CF3CC53}"/>
              </a:ext>
            </a:extLst>
          </p:cNvPr>
          <p:cNvSpPr txBox="1"/>
          <p:nvPr/>
        </p:nvSpPr>
        <p:spPr>
          <a:xfrm>
            <a:off x="4690533" y="811302"/>
            <a:ext cx="6214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1493</Words>
  <Application>Microsoft Office PowerPoint</Application>
  <PresentationFormat>On-screen Show (16:9)</PresentationFormat>
  <Paragraphs>327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Hartford Insurance Management System</dc:title>
  <dc:subject>PptxGenJS Presentation</dc:subject>
  <dc:creator>PptxGenJS</dc:creator>
  <cp:lastModifiedBy>HP</cp:lastModifiedBy>
  <cp:revision>8</cp:revision>
  <dcterms:created xsi:type="dcterms:W3CDTF">2026-03-08T18:45:18Z</dcterms:created>
  <dcterms:modified xsi:type="dcterms:W3CDTF">2026-03-10T05:58:49Z</dcterms:modified>
</cp:coreProperties>
</file>